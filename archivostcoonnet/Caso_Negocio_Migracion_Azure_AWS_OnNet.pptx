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57200"/>
            <a:ext cx="2286000" cy="7315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aws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9900"/>
                </a:solidFill>
              </a:rPr>
              <a:t>CASO DE NEGOCIO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Migración de Servicios Administrados
Microsoft Azure → Amazon Web 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0D0D0"/>
                </a:solidFill>
              </a:rPr>
              <a:t>OnNet  |  Arquitectura Empresarial &amp; FinOps  |  Abril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572000"/>
            <a:ext cx="2286000" cy="164592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4572000"/>
            <a:ext cx="2286000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548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9900"/>
                </a:solidFill>
              </a:rPr>
              <a:t>$163,902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4864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Gasto Azure/mes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20440" y="4572000"/>
            <a:ext cx="2286000" cy="164592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4572000"/>
            <a:ext cx="2286000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47548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9900"/>
                </a:solidFill>
              </a:rPr>
              <a:t>$65,164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54864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Ahorro Mensual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4572000"/>
            <a:ext cx="2286000" cy="164592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4572000"/>
            <a:ext cx="2286000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47548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9900"/>
                </a:solidFill>
              </a:rPr>
              <a:t>$2.8M+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54864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Ahorro 3 Años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32520" y="4572000"/>
            <a:ext cx="2286000" cy="164592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32520" y="4572000"/>
            <a:ext cx="2286000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23960" y="47548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9900"/>
                </a:solidFill>
              </a:rPr>
              <a:t>&lt;12 meses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60" y="54864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Payback ROI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640080" cy="5029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23444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1887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32F3E"/>
                </a:solidFill>
              </a:rPr>
              <a:t>Resumen Ejecutivo y Alineación Estratégica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4630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66"/>
                </a:solidFill>
              </a:rPr>
              <a:t>Justificación del cambio de plataforma y objetivos corporativos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965960"/>
            <a:ext cx="640080" cy="5029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011679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9659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32F3E"/>
                </a:solidFill>
              </a:rPr>
              <a:t>FinOps y Análisis de Impacto Económico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240279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66"/>
                </a:solidFill>
              </a:rPr>
              <a:t>TCO 3 años, estrategias de optimización y unit economics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743200"/>
            <a:ext cx="640080" cy="5029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78892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743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32F3E"/>
                </a:solidFill>
              </a:rPr>
              <a:t>Homologación Arquitectónica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017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66"/>
                </a:solidFill>
              </a:rPr>
              <a:t>Mapeo técnico Azure → AWS con trade-offs por servicio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520440"/>
            <a:ext cx="640080" cy="5029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56616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5204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32F3E"/>
                </a:solidFill>
              </a:rPr>
              <a:t>Atributos de Calidad ISO 25010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794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66"/>
                </a:solidFill>
              </a:rPr>
              <a:t>Evaluación de desempeño, fiabilidad, seguridad y mantenibilidad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297680"/>
            <a:ext cx="640080" cy="5029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434340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297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32F3E"/>
                </a:solidFill>
              </a:rPr>
              <a:t>Estrategia de Migración y Riesgos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5720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66"/>
                </a:solidFill>
              </a:rPr>
              <a:t>Fases de migración, riesgos críticos y planes de mitigación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074920"/>
            <a:ext cx="640080" cy="5029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512064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0749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32F3E"/>
                </a:solidFill>
              </a:rPr>
              <a:t>Decisión y Próximos Pasos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349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66"/>
                </a:solidFill>
              </a:rPr>
              <a:t>Recomendación ejecutiva y acciones inmediatas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01  |  RESUMEN EJECUTIVO Y ALINEACIÓN ESTRATÉGICA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32F3E"/>
                </a:solidFill>
              </a:rPr>
              <a:t>¿Por qué migrar de Azure a AWS?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737360"/>
            <a:ext cx="3749039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737360"/>
            <a:ext cx="3749039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874519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32F3E"/>
                </a:solidFill>
              </a:rPr>
              <a:t>💰  Optimización de Costos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228600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Ahorro proyectado de $65,164/mes (~40%) con Savings Plans 3yr. ROI &lt; 12 meses.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737360"/>
            <a:ext cx="3749039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1737360"/>
            <a:ext cx="3749039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874519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32F3E"/>
                </a:solidFill>
              </a:rPr>
              <a:t>🔒  Seguridad Mejorada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28600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AWS Security Hub + GuardDuty + KMS vs Defender for Cloud ($10,202/mes).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737360"/>
            <a:ext cx="3749039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737360"/>
            <a:ext cx="3749039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874519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32F3E"/>
                </a:solidFill>
              </a:rPr>
              <a:t>⚡  Resiliencia Operativa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28600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Multi-AZ nativo sin sobrecosto. Aurora 99.99% SLA. API GW serverless.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566160"/>
            <a:ext cx="3749039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3566160"/>
            <a:ext cx="3749039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37033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32F3E"/>
                </a:solidFill>
              </a:rPr>
              <a:t>🚀  Modernización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79" y="411480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EKS + Karpenter, Graviton3, Serverless-first. Eliminar deuda técnica.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3566160"/>
            <a:ext cx="3749039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06240" y="3566160"/>
            <a:ext cx="3749039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37033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32F3E"/>
                </a:solidFill>
              </a:rPr>
              <a:t>📊  FinOps Maduro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411480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Cost Explorer, Anomaly Detection, Savings Plans. Chargeback por ambiente.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3566160"/>
            <a:ext cx="3749039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566160"/>
            <a:ext cx="3749039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20" y="37033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32F3E"/>
                </a:solidFill>
              </a:rPr>
              <a:t>⚠️  Retiros Azure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411480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VPN Non-AZ (sept 2026), App GW WAF v2 (mar 2027). Migración urgente.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6309360"/>
            <a:ext cx="11430000" cy="365760"/>
          </a:xfrm>
          <a:prstGeom prst="rect">
            <a:avLst/>
          </a:prstGeom>
          <a:solidFill>
            <a:srgbClr val="FFF3E0"/>
          </a:solidFill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32F3E"/>
                </a:solidFill>
              </a:rPr>
              <a:t>Score Estratégico: Azure 3.65 / 5  vs  AWS 3.85 / 5  →  AWS lidera en FinOps, Modernización y Escalabilidad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02  |  COSTOS ACTUALES AZURE — BASELINE TCO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3200400" cy="13716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2344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$163,902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Gasto Total Mensual Azure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1097280"/>
            <a:ext cx="3200400" cy="13716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2344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$1,966,826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Gasto Anual Azure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0" y="1097280"/>
            <a:ext cx="4846320" cy="137160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0" y="12344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9900"/>
                </a:solidFill>
              </a:rPr>
              <a:t>4 Ambientes: Prod · QA · Dev · CentralHub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Prod 75% · Hub 9% · QA 12% · Dev 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19659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0D0D0"/>
                </a:solidFill>
              </a:rPr>
              <a:t>34 tipos de servicios Azure activos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7432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32F3E"/>
                </a:solidFill>
              </a:rPr>
              <a:t>TOP 5 SERVICIOS POR COSTO (75% del gasto total)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200400"/>
            <a:ext cx="219456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200400"/>
            <a:ext cx="219456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3375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0392B"/>
                </a:solidFill>
              </a:rPr>
              <a:t>$59,447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97763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66666"/>
                </a:solidFill>
              </a:rPr>
              <a:t>36.3%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34340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1A"/>
                </a:solidFill>
              </a:rPr>
              <a:t>Virtual Machines / AKS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06039" y="3200400"/>
            <a:ext cx="219456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06039" y="3200400"/>
            <a:ext cx="2194560" cy="7315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97479" y="33375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74C3C"/>
                </a:solidFill>
              </a:rPr>
              <a:t>$31,612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79" y="397763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66666"/>
                </a:solidFill>
              </a:rPr>
              <a:t>19.3%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79" y="434340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1A"/>
                </a:solidFill>
              </a:rPr>
              <a:t>Storage (Discos + SA)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37759" y="3200400"/>
            <a:ext cx="219456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37759" y="3200400"/>
            <a:ext cx="2194560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199" y="33375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67E22"/>
                </a:solidFill>
              </a:rPr>
              <a:t>$15,074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199" y="397763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66666"/>
                </a:solidFill>
              </a:rPr>
              <a:t>9.2%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199" y="434340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1A"/>
                </a:solidFill>
              </a:rPr>
              <a:t>Azure Databricks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69479" y="3200400"/>
            <a:ext cx="219456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69479" y="3200400"/>
            <a:ext cx="2194560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60919" y="33375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39C12"/>
                </a:solidFill>
              </a:rPr>
              <a:t>$11,079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0919" y="397763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66666"/>
                </a:solidFill>
              </a:rPr>
              <a:t>6.8%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0919" y="434340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1A"/>
                </a:solidFill>
              </a:rPr>
              <a:t>PostgreSQL Flexible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01200" y="3200400"/>
            <a:ext cx="219456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01200" y="3200400"/>
            <a:ext cx="2194560" cy="73152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92640" y="33375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1C40F"/>
                </a:solidFill>
              </a:rPr>
              <a:t>$10,202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2640" y="397763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66666"/>
                </a:solidFill>
              </a:rPr>
              <a:t>6.2%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434340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1A"/>
                </a:solidFill>
              </a:rPr>
              <a:t>Defender for Cloud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" y="6309360"/>
            <a:ext cx="11430000" cy="365760"/>
          </a:xfrm>
          <a:prstGeom prst="rect">
            <a:avLst/>
          </a:prstGeom>
          <a:solidFill>
            <a:srgbClr val="FFF9C4"/>
          </a:solidFill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D4037"/>
                </a:solidFill>
              </a:rPr>
              <a:t>⚠️  Microsoft Defender for Cloud: $10,202/mes — costo transversal de seguridad sin equivalente directo en inventario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02  |  TCO COMPARATIVO A 3 AÑOS — AZURE vs AWS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2926080" cy="4114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1430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Escenario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1097280"/>
            <a:ext cx="1645920" cy="4114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46120" y="11430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Año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097280"/>
            <a:ext cx="1645920" cy="4114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11430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Año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1097280"/>
            <a:ext cx="1645920" cy="4114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59" y="11430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Año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097280"/>
            <a:ext cx="1828800" cy="4114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143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Ahorro 3yr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66960" y="1097280"/>
            <a:ext cx="1371600" cy="4114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12680" y="11430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ROI 3yr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508760"/>
            <a:ext cx="2926080" cy="411480"/>
          </a:xfrm>
          <a:prstGeom prst="rect">
            <a:avLst/>
          </a:prstGeom>
          <a:solidFill>
            <a:srgbClr val="FFEB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15544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13438"/>
                </a:solidFill>
              </a:rPr>
              <a:t>Azure (Baseline)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1508760"/>
            <a:ext cx="1645920" cy="411480"/>
          </a:xfrm>
          <a:prstGeom prst="rect">
            <a:avLst/>
          </a:prstGeom>
          <a:solidFill>
            <a:srgbClr val="FFEB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46120" y="15544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13438"/>
                </a:solidFill>
              </a:rPr>
              <a:t>$1,966,826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1508760"/>
            <a:ext cx="1645920" cy="411480"/>
          </a:xfrm>
          <a:prstGeom prst="rect">
            <a:avLst/>
          </a:prstGeom>
          <a:solidFill>
            <a:srgbClr val="FFEB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92040" y="15544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13438"/>
                </a:solidFill>
              </a:rPr>
              <a:t>$3,933,652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1508760"/>
            <a:ext cx="1645920" cy="411480"/>
          </a:xfrm>
          <a:prstGeom prst="rect">
            <a:avLst/>
          </a:prstGeom>
          <a:solidFill>
            <a:srgbClr val="FFEB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59" y="15544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13438"/>
                </a:solidFill>
              </a:rPr>
              <a:t>$5,900,478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1508760"/>
            <a:ext cx="1828800" cy="411480"/>
          </a:xfrm>
          <a:prstGeom prst="rect">
            <a:avLst/>
          </a:prstGeom>
          <a:solidFill>
            <a:srgbClr val="FFEB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3880" y="15544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13438"/>
                </a:solidFill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966960" y="1508760"/>
            <a:ext cx="1371600" cy="411480"/>
          </a:xfrm>
          <a:prstGeom prst="rect">
            <a:avLst/>
          </a:prstGeom>
          <a:solidFill>
            <a:srgbClr val="FFEB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12680" y="155448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13438"/>
                </a:solidFill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1920240"/>
            <a:ext cx="2926080" cy="411480"/>
          </a:xfrm>
          <a:prstGeom prst="rect">
            <a:avLst/>
          </a:prstGeom>
          <a:solidFill>
            <a:srgbClr val="E3F2FD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19659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565C0"/>
                </a:solidFill>
              </a:rPr>
              <a:t>AWS On-Demand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0" y="1920240"/>
            <a:ext cx="1645920" cy="411480"/>
          </a:xfrm>
          <a:prstGeom prst="rect">
            <a:avLst/>
          </a:prstGeom>
          <a:solidFill>
            <a:srgbClr val="E3F2FD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46120" y="19659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565C0"/>
                </a:solidFill>
              </a:rPr>
              <a:t>$1,184,856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46320" y="1920240"/>
            <a:ext cx="1645920" cy="411480"/>
          </a:xfrm>
          <a:prstGeom prst="rect">
            <a:avLst/>
          </a:prstGeom>
          <a:solidFill>
            <a:srgbClr val="E3F2FD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92040" y="19659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565C0"/>
                </a:solidFill>
              </a:rPr>
              <a:t>$2,369,712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1920240"/>
            <a:ext cx="1645920" cy="411480"/>
          </a:xfrm>
          <a:prstGeom prst="rect">
            <a:avLst/>
          </a:prstGeom>
          <a:solidFill>
            <a:srgbClr val="E3F2FD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59" y="19659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565C0"/>
                </a:solidFill>
              </a:rPr>
              <a:t>$3,554,568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38160" y="1920240"/>
            <a:ext cx="1828800" cy="411480"/>
          </a:xfrm>
          <a:prstGeom prst="rect">
            <a:avLst/>
          </a:prstGeom>
          <a:solidFill>
            <a:srgbClr val="E3F2FD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83880" y="19659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565C0"/>
                </a:solidFill>
              </a:rPr>
              <a:t>$2,345,910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66960" y="1920240"/>
            <a:ext cx="1371600" cy="411480"/>
          </a:xfrm>
          <a:prstGeom prst="rect">
            <a:avLst/>
          </a:prstGeom>
          <a:solidFill>
            <a:srgbClr val="E3F2FD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12680" y="19659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565C0"/>
                </a:solidFill>
              </a:rPr>
              <a:t>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2331720"/>
            <a:ext cx="2926080" cy="411480"/>
          </a:xfrm>
          <a:prstGeom prst="rect">
            <a:avLst/>
          </a:prstGeom>
          <a:solidFill>
            <a:srgbClr val="E8F5E9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" y="23774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07C10"/>
                </a:solidFill>
              </a:rPr>
              <a:t>AWS SP 1 año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0" y="2331720"/>
            <a:ext cx="1645920" cy="411480"/>
          </a:xfrm>
          <a:prstGeom prst="rect">
            <a:avLst/>
          </a:prstGeom>
          <a:solidFill>
            <a:srgbClr val="E8F5E9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46120" y="23774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07C10"/>
                </a:solidFill>
              </a:rPr>
              <a:t>$1,000,000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46320" y="2331720"/>
            <a:ext cx="1645920" cy="411480"/>
          </a:xfrm>
          <a:prstGeom prst="rect">
            <a:avLst/>
          </a:prstGeom>
          <a:solidFill>
            <a:srgbClr val="E8F5E9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92040" y="23774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07C10"/>
                </a:solidFill>
              </a:rPr>
              <a:t>$2,000,000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92240" y="2331720"/>
            <a:ext cx="1645920" cy="411480"/>
          </a:xfrm>
          <a:prstGeom prst="rect">
            <a:avLst/>
          </a:prstGeom>
          <a:solidFill>
            <a:srgbClr val="E8F5E9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37959" y="23774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07C10"/>
                </a:solidFill>
              </a:rPr>
              <a:t>$3,000,000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38160" y="2331720"/>
            <a:ext cx="1828800" cy="411480"/>
          </a:xfrm>
          <a:prstGeom prst="rect">
            <a:avLst/>
          </a:prstGeom>
          <a:solidFill>
            <a:srgbClr val="E8F5E9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83880" y="23774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07C10"/>
                </a:solidFill>
              </a:rPr>
              <a:t>$2,900,478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966960" y="2331720"/>
            <a:ext cx="1371600" cy="411480"/>
          </a:xfrm>
          <a:prstGeom prst="rect">
            <a:avLst/>
          </a:prstGeom>
          <a:solidFill>
            <a:srgbClr val="E8F5E9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012680" y="23774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07C10"/>
                </a:solidFill>
              </a:rP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2743200"/>
            <a:ext cx="2926080" cy="411480"/>
          </a:xfrm>
          <a:prstGeom prst="rect">
            <a:avLst/>
          </a:prstGeom>
          <a:solidFill>
            <a:srgbClr val="C8E6C9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20040" y="27889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5E20"/>
                </a:solidFill>
              </a:rPr>
              <a:t>AWS SP 3 años ✓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0" y="2743200"/>
            <a:ext cx="1645920" cy="411480"/>
          </a:xfrm>
          <a:prstGeom prst="rect">
            <a:avLst/>
          </a:prstGeom>
          <a:solidFill>
            <a:srgbClr val="C8E6C9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46120" y="27889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5E20"/>
                </a:solidFill>
              </a:rPr>
              <a:t>$820,000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846320" y="2743200"/>
            <a:ext cx="1645920" cy="411480"/>
          </a:xfrm>
          <a:prstGeom prst="rect">
            <a:avLst/>
          </a:prstGeom>
          <a:solidFill>
            <a:srgbClr val="C8E6C9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892040" y="27889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5E20"/>
                </a:solidFill>
              </a:rPr>
              <a:t>$1,640,000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92240" y="2743200"/>
            <a:ext cx="1645920" cy="411480"/>
          </a:xfrm>
          <a:prstGeom prst="rect">
            <a:avLst/>
          </a:prstGeom>
          <a:solidFill>
            <a:srgbClr val="C8E6C9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37959" y="27889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5E20"/>
                </a:solidFill>
              </a:rPr>
              <a:t>$2,460,000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138160" y="2743200"/>
            <a:ext cx="1828800" cy="411480"/>
          </a:xfrm>
          <a:prstGeom prst="rect">
            <a:avLst/>
          </a:prstGeom>
          <a:solidFill>
            <a:srgbClr val="C8E6C9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183880" y="27889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5E20"/>
                </a:solidFill>
              </a:rPr>
              <a:t>$3,440,478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966960" y="2743200"/>
            <a:ext cx="1371600" cy="411480"/>
          </a:xfrm>
          <a:prstGeom prst="rect">
            <a:avLst/>
          </a:prstGeom>
          <a:solidFill>
            <a:srgbClr val="C8E6C9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012680" y="27889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5E20"/>
                </a:solidFill>
              </a:rPr>
              <a:t>1,750%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74320" y="33832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32F3E"/>
                </a:solidFill>
              </a:rPr>
              <a:t>PUNTO DE EQUILIBRIO (PAYBACK)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3794760"/>
            <a:ext cx="1280160" cy="320040"/>
          </a:xfrm>
          <a:prstGeom prst="rect">
            <a:avLst/>
          </a:prstGeom>
          <a:solidFill>
            <a:srgbClr val="FFEB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0040" y="3813048"/>
            <a:ext cx="1188719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13438"/>
                </a:solidFill>
              </a:rPr>
              <a:t>M0
$-190K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645920" y="3794760"/>
            <a:ext cx="1280160" cy="320040"/>
          </a:xfrm>
          <a:prstGeom prst="rect">
            <a:avLst/>
          </a:prstGeom>
          <a:solidFill>
            <a:srgbClr val="107C1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691640" y="3813048"/>
            <a:ext cx="1188719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M3
+$6K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017520" y="3794760"/>
            <a:ext cx="1280160" cy="320040"/>
          </a:xfrm>
          <a:prstGeom prst="rect">
            <a:avLst/>
          </a:prstGeom>
          <a:solidFill>
            <a:srgbClr val="107C1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063239" y="3813048"/>
            <a:ext cx="1188719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M6
+$201K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389120" y="3794760"/>
            <a:ext cx="1280160" cy="320040"/>
          </a:xfrm>
          <a:prstGeom prst="rect">
            <a:avLst/>
          </a:prstGeom>
          <a:solidFill>
            <a:srgbClr val="107C1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434840" y="3813048"/>
            <a:ext cx="1188719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M9
+$397K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760720" y="3794760"/>
            <a:ext cx="1280160" cy="320040"/>
          </a:xfrm>
          <a:prstGeom prst="rect">
            <a:avLst/>
          </a:prstGeom>
          <a:solidFill>
            <a:srgbClr val="107C1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806440" y="3813048"/>
            <a:ext cx="1188719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M12
+$592K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132320" y="3794760"/>
            <a:ext cx="1280160" cy="320040"/>
          </a:xfrm>
          <a:prstGeom prst="rect">
            <a:avLst/>
          </a:prstGeom>
          <a:solidFill>
            <a:srgbClr val="107C1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178040" y="3813048"/>
            <a:ext cx="1188719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M18
+$983K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503920" y="3794760"/>
            <a:ext cx="1280160" cy="320040"/>
          </a:xfrm>
          <a:prstGeom prst="rect">
            <a:avLst/>
          </a:prstGeom>
          <a:solidFill>
            <a:srgbClr val="107C1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549640" y="3813048"/>
            <a:ext cx="1188719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M24
+$1374K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875520" y="3794760"/>
            <a:ext cx="1280160" cy="320040"/>
          </a:xfrm>
          <a:prstGeom prst="rect">
            <a:avLst/>
          </a:prstGeom>
          <a:solidFill>
            <a:srgbClr val="107C1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921240" y="3813048"/>
            <a:ext cx="1188719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M36
+$2156K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74320" y="6309360"/>
            <a:ext cx="11430000" cy="365760"/>
          </a:xfrm>
          <a:prstGeom prst="rect">
            <a:avLst/>
          </a:prstGeom>
          <a:solidFill>
            <a:srgbClr val="E8F5E9"/>
          </a:solidFill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7C10"/>
                </a:solidFill>
              </a:rPr>
              <a:t>✅  Payback estimado: Mes 3 — La inversión se recupera en el tercer mes de operación en AWS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02  |  ESTRATEGIAS FINOPS — OPTIMIZACIÓN DE COSTOS AWS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51560"/>
            <a:ext cx="11430000" cy="365760"/>
          </a:xfrm>
          <a:prstGeom prst="rect">
            <a:avLst/>
          </a:prstGeom>
          <a:solidFill>
            <a:srgbClr val="107C10"/>
          </a:solidFill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Ahorro mensual adicional potencial: $60,147/mes  |  Anual: $721,764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554480"/>
            <a:ext cx="274320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554480"/>
            <a:ext cx="2743200" cy="73152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69163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07C10"/>
                </a:solidFill>
              </a:rPr>
              <a:t>37%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945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</a:rPr>
              <a:t>descuento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468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32F3E"/>
                </a:solidFill>
              </a:rPr>
              <a:t>$18,757/mes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834639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44444"/>
                </a:solidFill>
              </a:rPr>
              <a:t>Compute Savings Plans 3yr
EKS / EC2  |  Mes 6-12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554480"/>
            <a:ext cx="274320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0" y="1554480"/>
            <a:ext cx="2743200" cy="73152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169163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07C10"/>
                </a:solidFill>
              </a:rPr>
              <a:t>48%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1945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</a:rPr>
              <a:t>descuento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468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32F3E"/>
                </a:solidFill>
              </a:rPr>
              <a:t>$4,080/mes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834639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44444"/>
                </a:solidFill>
              </a:rPr>
              <a:t>Reserved Instances Aurora
PostgreSQL  |  Mes 3-6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554480"/>
            <a:ext cx="274320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554480"/>
            <a:ext cx="2743200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69163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7AE60"/>
                </a:solidFill>
              </a:rPr>
              <a:t>70%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1945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</a:rPr>
              <a:t>descuento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468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32F3E"/>
                </a:solidFill>
              </a:rPr>
              <a:t>$7,000/mes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834639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44444"/>
                </a:solidFill>
              </a:rPr>
              <a:t>Spot Instances Dev/QA
EKS Dev/QA  |  Mes 1-3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2560" y="1554480"/>
            <a:ext cx="274320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52560" y="1554480"/>
            <a:ext cx="2743200" cy="7315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169163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B5E20"/>
                </a:solidFill>
              </a:rPr>
              <a:t>95%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21945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</a:rPr>
              <a:t>descuento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468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32F3E"/>
                </a:solidFill>
              </a:rPr>
              <a:t>$9,172/mes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2834639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44444"/>
                </a:solidFill>
              </a:rPr>
              <a:t>API Gateway Pay-per-Use
APIM → API GW  |  Mes 1-3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657600"/>
            <a:ext cx="274320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3657600"/>
            <a:ext cx="2743200" cy="73152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37947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07C10"/>
                </a:solidFill>
              </a:rPr>
              <a:t>82%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4297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</a:rPr>
              <a:t>descuento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4572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32F3E"/>
                </a:solidFill>
              </a:rPr>
              <a:t>$5,419/mes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49377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44444"/>
                </a:solidFill>
              </a:rPr>
              <a:t>CloudWatch vs Log Analytics
Observabilidad  |  Mes 2-4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0" y="3657600"/>
            <a:ext cx="274320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0" y="3657600"/>
            <a:ext cx="2743200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91840" y="37947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7AE60"/>
                </a:solidFill>
              </a:rPr>
              <a:t>12%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91840" y="4297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</a:rPr>
              <a:t>descuento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91840" y="4572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32F3E"/>
                </a:solidFill>
              </a:rPr>
              <a:t>$6,083/mes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91840" y="49377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44444"/>
                </a:solidFill>
              </a:rPr>
              <a:t>Right-Sizing (Compute Opt.)
Todos EC2/EKS  |  Mes 1-2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26480" y="3657600"/>
            <a:ext cx="274320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26480" y="3657600"/>
            <a:ext cx="2743200" cy="73152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0" y="37947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07C10"/>
                </a:solidFill>
              </a:rPr>
              <a:t>15%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4297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</a:rPr>
              <a:t>descuento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4572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32F3E"/>
                </a:solidFill>
              </a:rPr>
              <a:t>$7,604/mes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49377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44444"/>
                </a:solidFill>
              </a:rPr>
              <a:t>Karpenter Autoscaling
EKS Clusters  |  Mes 2-4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52560" y="3657600"/>
            <a:ext cx="274320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052560" y="3657600"/>
            <a:ext cx="2743200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44000" y="37947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7AE60"/>
                </a:solidFill>
              </a:rPr>
              <a:t>20%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0" y="4297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</a:rPr>
              <a:t>descuento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0" y="4572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32F3E"/>
                </a:solidFill>
              </a:rPr>
              <a:t>$2,032/mes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0" y="49377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44444"/>
                </a:solidFill>
              </a:rPr>
              <a:t>Graviton3 (Aurora/DocDB)
Bases de Datos  |  Mes 3-6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03  |  HOMOLOGACIÓN ARQUITECTÓNICA — MAPEO DE SERVICIOS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097280"/>
            <a:ext cx="1188720" cy="6400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1887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23443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1737360" y="1097280"/>
            <a:ext cx="1188720" cy="64008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83080" y="114300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Amazon EKS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1783080"/>
            <a:ext cx="2743200" cy="274320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1810512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44444"/>
                </a:solidFill>
              </a:rPr>
              <a:t>Replatform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1097280"/>
            <a:ext cx="1188720" cy="6400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11887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App 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23443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09160" y="1097280"/>
            <a:ext cx="1188720" cy="64008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114300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Elastic Beanstalk
+ Lambda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54680" y="1783080"/>
            <a:ext cx="2743200" cy="274320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0" y="1810512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44444"/>
                </a:solidFill>
              </a:rPr>
              <a:t>Replatform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097280"/>
            <a:ext cx="1188720" cy="6400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11887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APIM Premium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123443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80960" y="1097280"/>
            <a:ext cx="1188720" cy="6400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26679" y="114300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API Gateway
(pay-per-use)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1783080"/>
            <a:ext cx="2743200" cy="274320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1810512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44444"/>
                </a:solidFill>
              </a:rPr>
              <a:t>Replatform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98280" y="1097280"/>
            <a:ext cx="1188720" cy="6400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0" y="11887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PostgreSQL Flex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87000" y="123443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652759" y="1097280"/>
            <a:ext cx="1188720" cy="64008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98480" y="114300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Aurora PostgreSQL
(Multi-AZ)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98280" y="1783080"/>
            <a:ext cx="2743200" cy="274320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0" y="1810512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44444"/>
                </a:solidFill>
              </a:rPr>
              <a:t>Replatform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" y="2834639"/>
            <a:ext cx="1188720" cy="6400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28600" y="2926079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Databricks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297179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737360" y="2834639"/>
            <a:ext cx="1188720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783080" y="2880359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Databricks on AWS
(mismo producto)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2880" y="3520439"/>
            <a:ext cx="2743200" cy="274320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8600" y="3547872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44444"/>
                </a:solidFill>
              </a:rPr>
              <a:t>Retain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54680" y="2834639"/>
            <a:ext cx="1188720" cy="6400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0" y="2926079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Cosmos DB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43400" y="297179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09160" y="2834639"/>
            <a:ext cx="1188720" cy="64008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4880" y="2880359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Amazon DocumentDB
(MongoDB compat.)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54680" y="3520439"/>
            <a:ext cx="2743200" cy="274320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00400" y="3547872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44444"/>
                </a:solidFill>
              </a:rPr>
              <a:t>Replatform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26480" y="2834639"/>
            <a:ext cx="1188720" cy="6400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72200" y="2926079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Data Factory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0" y="297179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680960" y="2834639"/>
            <a:ext cx="1188720" cy="64008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26679" y="2880359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AWS Glue +
Step Functions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26480" y="3520439"/>
            <a:ext cx="2743200" cy="274320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72200" y="3547872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44444"/>
                </a:solidFill>
              </a:rPr>
              <a:t>Replatform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098280" y="2834639"/>
            <a:ext cx="1188720" cy="6400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44000" y="2926079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Front Door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287000" y="297179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652759" y="2834639"/>
            <a:ext cx="1188720" cy="64008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698480" y="2880359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CloudFront +
Route 53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98280" y="3520439"/>
            <a:ext cx="2743200" cy="274320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144000" y="3547872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44444"/>
                </a:solidFill>
              </a:rPr>
              <a:t>Replatform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82880" y="4572000"/>
            <a:ext cx="1188720" cy="6400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28600" y="46634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Log Analytics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371600" y="47091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737360" y="4572000"/>
            <a:ext cx="1188720" cy="64008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783080" y="461772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CloudWatch Logs
+ OpenSearch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82880" y="5257800"/>
            <a:ext cx="2743200" cy="274320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28600" y="5285232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44444"/>
                </a:solidFill>
              </a:rPr>
              <a:t>Replatform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154680" y="4572000"/>
            <a:ext cx="1188720" cy="6400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200400" y="46634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Sentinel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343400" y="47091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709160" y="4572000"/>
            <a:ext cx="1188720" cy="64008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54880" y="461772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Security Hub +
GuardDuty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154680" y="5257800"/>
            <a:ext cx="2743200" cy="274320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200400" y="5285232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44444"/>
                </a:solidFill>
              </a:rPr>
              <a:t>Replatform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26480" y="4572000"/>
            <a:ext cx="1188720" cy="6400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72200" y="46634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Key Vault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315200" y="47091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680960" y="4572000"/>
            <a:ext cx="1188720" cy="64008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726679" y="461772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Secrets Manager
+ KMS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126480" y="5257800"/>
            <a:ext cx="2743200" cy="274320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172200" y="5285232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44444"/>
                </a:solidFill>
              </a:rPr>
              <a:t>Replatform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098280" y="4572000"/>
            <a:ext cx="1188720" cy="6400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144000" y="46634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Azure DevOps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287000" y="47091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652759" y="4572000"/>
            <a:ext cx="1188720" cy="64008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698480" y="461772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CodePipeline +
CodeBuild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098280" y="5257800"/>
            <a:ext cx="2743200" cy="274320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144000" y="5285232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44444"/>
                </a:solidFill>
              </a:rPr>
              <a:t>Replatform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03  |  CASO DESTACADO: APIM PREMIUM → API GATEWAY (95% AHORRO)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5303520" cy="5029200"/>
          </a:xfrm>
          <a:prstGeom prst="rect">
            <a:avLst/>
          </a:prstGeom>
          <a:solidFill>
            <a:srgbClr val="FFEBEE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30352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AZURE API MANAGEMENT (Actual)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5120640" cy="384048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3438"/>
                </a:solidFill>
              </a:rPr>
              <a:t>2× Premium Units (Prod)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73736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13438"/>
                </a:solidFill>
              </a:rPr>
              <a:t>$7,178.91/mes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03120"/>
            <a:ext cx="5120640" cy="384048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488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3438"/>
                </a:solidFill>
              </a:rPr>
              <a:t>1× Secondary Unit (HA)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14884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13438"/>
                </a:solidFill>
              </a:rPr>
              <a:t>$1,794.26/mes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514600"/>
            <a:ext cx="5120640" cy="384048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56032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3438"/>
                </a:solidFill>
              </a:rPr>
              <a:t>1× Basic Unit (Transitional)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56032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13438"/>
                </a:solidFill>
              </a:rPr>
              <a:t>$188.43/mes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926080"/>
            <a:ext cx="5120640" cy="384048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97180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3438"/>
                </a:solidFill>
              </a:rPr>
              <a:t>2× Developer Units (DR)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97180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13438"/>
                </a:solidFill>
              </a:rPr>
              <a:t>$123.37/mes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337560"/>
            <a:ext cx="5120640" cy="384048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38328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3438"/>
                </a:solidFill>
              </a:rPr>
              <a:t>6× Developer Units (Dev/QA)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338328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13438"/>
                </a:solidFill>
              </a:rPr>
              <a:t>$370.10/mes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749040"/>
            <a:ext cx="5120640" cy="384048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7947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3438"/>
                </a:solidFill>
              </a:rPr>
              <a:t>Log Analytics (Prod)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379476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13438"/>
                </a:solidFill>
              </a:rPr>
              <a:t>$2,021.89/mes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160520"/>
            <a:ext cx="5120640" cy="384048"/>
          </a:xfrm>
          <a:prstGeom prst="rect">
            <a:avLst/>
          </a:prstGeom>
          <a:solidFill>
            <a:srgbClr val="C0392B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2062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TOTAL MENSUAL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420624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$11,715.21/mes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2743200"/>
            <a:ext cx="822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7C10"/>
                </a:solidFill>
              </a:rPr>
              <a:t>→
95%
Ahorro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0" y="1097280"/>
            <a:ext cx="5212080" cy="5029200"/>
          </a:xfrm>
          <a:prstGeom prst="rect">
            <a:avLst/>
          </a:prstGeom>
          <a:solidFill>
            <a:srgbClr val="E8F5E9"/>
          </a:solidFill>
          <a:ln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675120" y="1097280"/>
            <a:ext cx="5212080" cy="45720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1143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AWS API GATEWAY (Propuesto)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66560" y="1691640"/>
            <a:ext cx="5029200" cy="384048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17373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7C10"/>
                </a:solidFill>
              </a:rPr>
              <a:t>REST API (50M calls/mes)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173736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07C10"/>
                </a:solidFill>
              </a:rPr>
              <a:t>$175.00/mes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66560" y="2103120"/>
            <a:ext cx="5029200" cy="384048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0" y="21488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7C10"/>
                </a:solidFill>
              </a:rPr>
              <a:t>HTTP API interno (30M calls)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0" y="214884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07C10"/>
                </a:solidFill>
              </a:rPr>
              <a:t>$30.00/mes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66560" y="2514600"/>
            <a:ext cx="5029200" cy="384048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0" y="256032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7C10"/>
                </a:solidFill>
              </a:rPr>
              <a:t>Cache 6.05GB (Prod)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75520" y="256032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07C10"/>
                </a:solidFill>
              </a:rPr>
              <a:t>$146.00/mes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66560" y="2926080"/>
            <a:ext cx="5029200" cy="384048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0" y="297180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7C10"/>
                </a:solidFill>
              </a:rPr>
              <a:t>CloudWatch Logs (~200GB)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75520" y="297180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07C10"/>
                </a:solidFill>
              </a:rPr>
              <a:t>$100.00/mes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66560" y="3337560"/>
            <a:ext cx="5029200" cy="384048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0" y="338328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7C10"/>
                </a:solidFill>
              </a:rPr>
              <a:t>Route 53 Private Zone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75520" y="338328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07C10"/>
                </a:solidFill>
              </a:rPr>
              <a:t>$1.50/mes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766560" y="3749040"/>
            <a:ext cx="5029200" cy="384048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0" y="37947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7C10"/>
                </a:solidFill>
              </a:rPr>
              <a:t>AWS WAF (10 reglas)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75520" y="379476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07C10"/>
                </a:solidFill>
              </a:rPr>
              <a:t>$16.00/mes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766560" y="4160520"/>
            <a:ext cx="5029200" cy="384048"/>
          </a:xfrm>
          <a:prstGeom prst="rect">
            <a:avLst/>
          </a:prstGeom>
          <a:solidFill>
            <a:srgbClr val="107C10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58000" y="42062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TOTAL MENSUAL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75520" y="420624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$535.50/mes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4320" y="6309360"/>
            <a:ext cx="11430000" cy="365760"/>
          </a:xfrm>
          <a:prstGeom prst="rect">
            <a:avLst/>
          </a:prstGeom>
          <a:solidFill>
            <a:srgbClr val="107C10"/>
          </a:solidFill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💡  Ahorro anual APIM → API Gateway: $134,162  |  Modelo pay-per-use elimina $9,285/mes en Premium Units fijas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03  |  CASO DESTACADO: VIRTUAL MACHINES → AMAZON EKS (46% AHORRO)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5303520" cy="5029200"/>
          </a:xfrm>
          <a:prstGeom prst="rect">
            <a:avLst/>
          </a:prstGeom>
          <a:solidFill>
            <a:srgbClr val="FFEBEE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30352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AZURE VIRTUAL MACHINES (Actual)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5120640" cy="384048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3438"/>
                </a:solidFill>
              </a:rPr>
              <a:t>Virtual Machines (Prod)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73736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13438"/>
                </a:solidFill>
              </a:rPr>
              <a:t>$41,064.00/mes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03120"/>
            <a:ext cx="5120640" cy="384048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488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3438"/>
                </a:solidFill>
              </a:rPr>
              <a:t>Virtual Machines (QA)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14884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13438"/>
                </a:solidFill>
              </a:rPr>
              <a:t>$9,642.00/mes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514600"/>
            <a:ext cx="5120640" cy="384048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56032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3438"/>
                </a:solidFill>
              </a:rPr>
              <a:t>Virtual Machines (Dev)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56032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13438"/>
                </a:solidFill>
              </a:rPr>
              <a:t>$3,756.00/mes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926080"/>
            <a:ext cx="5120640" cy="384048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97180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3438"/>
                </a:solidFill>
              </a:rPr>
              <a:t>Virtual Machines (CentralHub)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97180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13438"/>
                </a:solidFill>
              </a:rPr>
              <a:t>$4,984.00/mes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337560"/>
            <a:ext cx="5120640" cy="384048"/>
          </a:xfrm>
          <a:prstGeom prst="rect">
            <a:avLst/>
          </a:prstGeom>
          <a:solidFill>
            <a:srgbClr val="C0392B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38328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TOTAL MENSUAL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338328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$59,446.00/mes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2743200"/>
            <a:ext cx="822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7C10"/>
                </a:solidFill>
              </a:rPr>
              <a:t>→
46%
Ahorro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5120" y="1097280"/>
            <a:ext cx="5212080" cy="5029200"/>
          </a:xfrm>
          <a:prstGeom prst="rect">
            <a:avLst/>
          </a:prstGeom>
          <a:solidFill>
            <a:srgbClr val="E8F5E9"/>
          </a:solidFill>
          <a:ln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75120" y="1097280"/>
            <a:ext cx="5212080" cy="45720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1143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AWS AMAZON EKS (Propuesto)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0" y="1691640"/>
            <a:ext cx="5029200" cy="384048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17373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7C10"/>
                </a:solidFill>
              </a:rPr>
              <a:t>Amazon EKS (Prod)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173736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07C10"/>
                </a:solidFill>
              </a:rPr>
              <a:t>$22,104.90/mes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66560" y="2103120"/>
            <a:ext cx="5029200" cy="384048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0" y="21488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7C10"/>
                </a:solidFill>
              </a:rPr>
              <a:t>Amazon EKS (QA)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214884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07C10"/>
                </a:solidFill>
              </a:rPr>
              <a:t>$5,190.32/mes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66560" y="2514600"/>
            <a:ext cx="5029200" cy="384048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256032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7C10"/>
                </a:solidFill>
              </a:rPr>
              <a:t>Amazon EKS (Dev)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256032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07C10"/>
                </a:solidFill>
              </a:rPr>
              <a:t>$2,021.87/mes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66560" y="2926080"/>
            <a:ext cx="5029200" cy="384048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0" y="297180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7C10"/>
                </a:solidFill>
              </a:rPr>
              <a:t>Amazon EKS (CentralHub)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0" y="297180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07C10"/>
                </a:solidFill>
              </a:rPr>
              <a:t>$2,682.91/mes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66560" y="3337560"/>
            <a:ext cx="5029200" cy="384048"/>
          </a:xfrm>
          <a:prstGeom prst="rect">
            <a:avLst/>
          </a:prstGeom>
          <a:solidFill>
            <a:srgbClr val="107C10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0" y="338328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TOTAL MENSUAL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75520" y="338328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$32,000.00/mes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6309360"/>
            <a:ext cx="11430000" cy="365760"/>
          </a:xfrm>
          <a:prstGeom prst="rect">
            <a:avLst/>
          </a:prstGeom>
          <a:solidFill>
            <a:srgbClr val="107C10"/>
          </a:solidFill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💡  Ahorro anual estimado: $329,352  |  Drivers: Karpenter autoscaling, Spot instances en Dev/QA, Savings Plans 3yr en Prod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03  |  CASO DESTACADO: STORAGE (DISCOS + CUENTAS) → AMAZON S3 (53% AHORRO)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5303520" cy="5029200"/>
          </a:xfrm>
          <a:prstGeom prst="rect">
            <a:avLst/>
          </a:prstGeom>
          <a:solidFill>
            <a:srgbClr val="FFEBEE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30352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AZURE STORAGE (DISCOS + CUENTAS) (Actual)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5120640" cy="384048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3438"/>
                </a:solidFill>
              </a:rPr>
              <a:t>Storage (Discos + Cuentas) (Prod)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73736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13438"/>
                </a:solidFill>
              </a:rPr>
              <a:t>$22,599.00/mes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03120"/>
            <a:ext cx="5120640" cy="384048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488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3438"/>
                </a:solidFill>
              </a:rPr>
              <a:t>Storage (Discos + Cuentas) (QA)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14884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13438"/>
                </a:solidFill>
              </a:rPr>
              <a:t>$5,656.00/mes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514600"/>
            <a:ext cx="5120640" cy="384048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56032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3438"/>
                </a:solidFill>
              </a:rPr>
              <a:t>Storage (Discos + Cuentas) (Dev)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56032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13438"/>
                </a:solidFill>
              </a:rPr>
              <a:t>$1,260.00/mes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926080"/>
            <a:ext cx="5120640" cy="384048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97180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3438"/>
                </a:solidFill>
              </a:rPr>
              <a:t>Storage (Discos + Cuentas) (CentralHub)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97180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13438"/>
                </a:solidFill>
              </a:rPr>
              <a:t>$2,097.00/mes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337560"/>
            <a:ext cx="5120640" cy="384048"/>
          </a:xfrm>
          <a:prstGeom prst="rect">
            <a:avLst/>
          </a:prstGeom>
          <a:solidFill>
            <a:srgbClr val="C0392B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38328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TOTAL MENSUAL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338328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$31,612.00/mes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2743200"/>
            <a:ext cx="822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7C10"/>
                </a:solidFill>
              </a:rPr>
              <a:t>→
53%
Ahorro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5120" y="1097280"/>
            <a:ext cx="5212080" cy="5029200"/>
          </a:xfrm>
          <a:prstGeom prst="rect">
            <a:avLst/>
          </a:prstGeom>
          <a:solidFill>
            <a:srgbClr val="E8F5E9"/>
          </a:solidFill>
          <a:ln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75120" y="1097280"/>
            <a:ext cx="5212080" cy="45720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1143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AWS AMAZON S3 (Propuesto)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0" y="1691640"/>
            <a:ext cx="5029200" cy="384048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17373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7C10"/>
                </a:solidFill>
              </a:rPr>
              <a:t>Amazon S3 (Prod)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173736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07C10"/>
                </a:solidFill>
              </a:rPr>
              <a:t>$10,723.30/mes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66560" y="2103120"/>
            <a:ext cx="5029200" cy="384048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0" y="21488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7C10"/>
                </a:solidFill>
              </a:rPr>
              <a:t>Amazon S3 (QA)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214884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07C10"/>
                </a:solidFill>
              </a:rPr>
              <a:t>$2,683.79/mes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66560" y="2514600"/>
            <a:ext cx="5029200" cy="384048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256032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7C10"/>
                </a:solidFill>
              </a:rPr>
              <a:t>Amazon S3 (Dev)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256032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07C10"/>
                </a:solidFill>
              </a:rPr>
              <a:t>$597.87/mes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66560" y="2926080"/>
            <a:ext cx="5029200" cy="384048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0" y="297180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7C10"/>
                </a:solidFill>
              </a:rPr>
              <a:t>Amazon S3 (CentralHub)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0" y="297180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07C10"/>
                </a:solidFill>
              </a:rPr>
              <a:t>$995.03/mes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66560" y="3337560"/>
            <a:ext cx="5029200" cy="384048"/>
          </a:xfrm>
          <a:prstGeom prst="rect">
            <a:avLst/>
          </a:prstGeom>
          <a:solidFill>
            <a:srgbClr val="107C10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0" y="338328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TOTAL MENSUAL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75520" y="338328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$15,000.00/mes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6309360"/>
            <a:ext cx="11430000" cy="365760"/>
          </a:xfrm>
          <a:prstGeom prst="rect">
            <a:avLst/>
          </a:prstGeom>
          <a:solidFill>
            <a:srgbClr val="107C10"/>
          </a:solidFill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💡  Ahorro anual estimado: $199,344  |  Drivers: S3 Intelligent-Tiering, gp3 vs Premium SSD, eliminación discos huérfanos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03  |  CASO DESTACADO: AZURE DATABRICKS → DATABRICKS ON AWS (86% AHORRO)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5303520" cy="5029200"/>
          </a:xfrm>
          <a:prstGeom prst="rect">
            <a:avLst/>
          </a:prstGeom>
          <a:solidFill>
            <a:srgbClr val="FFEBEE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30352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AZURE AZURE DATABRICKS (Actual)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5120640" cy="384048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3438"/>
                </a:solidFill>
              </a:rPr>
              <a:t>Azure Databricks (Prod)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73736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13438"/>
                </a:solidFill>
              </a:rPr>
              <a:t>$15,070.00/mes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03120"/>
            <a:ext cx="5120640" cy="384048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488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3438"/>
                </a:solidFill>
              </a:rPr>
              <a:t>Azure Databricks (QA)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14884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13438"/>
                </a:solidFill>
              </a:rPr>
              <a:t>$3.00/mes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514600"/>
            <a:ext cx="5120640" cy="384048"/>
          </a:xfrm>
          <a:prstGeom prst="rect">
            <a:avLst/>
          </a:prstGeom>
          <a:solidFill>
            <a:srgbClr val="C0392B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56032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TOTAL MENSUAL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56032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$15,073.00/mes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743200"/>
            <a:ext cx="822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7C10"/>
                </a:solidFill>
              </a:rPr>
              <a:t>→
86%
Ahorro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1097280"/>
            <a:ext cx="5212080" cy="5029200"/>
          </a:xfrm>
          <a:prstGeom prst="rect">
            <a:avLst/>
          </a:prstGeom>
          <a:solidFill>
            <a:srgbClr val="E8F5E9"/>
          </a:solidFill>
          <a:ln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1097280"/>
            <a:ext cx="5212080" cy="45720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1143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AWS DATABRICKS ON AWS (Propuesto)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0" y="1691640"/>
            <a:ext cx="5029200" cy="384048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17373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7C10"/>
                </a:solidFill>
              </a:rPr>
              <a:t>Databricks on AWS (Prod)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173736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07C10"/>
                </a:solidFill>
              </a:rPr>
              <a:t>$2,099.58/mes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6560" y="2103120"/>
            <a:ext cx="5029200" cy="384048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21488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7C10"/>
                </a:solidFill>
              </a:rPr>
              <a:t>Databricks on AWS (QA)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214884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07C10"/>
                </a:solidFill>
              </a:rPr>
              <a:t>$0.42/mes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0" y="2514600"/>
            <a:ext cx="5029200" cy="384048"/>
          </a:xfrm>
          <a:prstGeom prst="rect">
            <a:avLst/>
          </a:prstGeom>
          <a:solidFill>
            <a:srgbClr val="107C10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256032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TOTAL MENSUAL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256032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$2,100.00/mes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6309360"/>
            <a:ext cx="11430000" cy="365760"/>
          </a:xfrm>
          <a:prstGeom prst="rect">
            <a:avLst/>
          </a:prstGeom>
          <a:solidFill>
            <a:srgbClr val="107C10"/>
          </a:solidFill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💡  Ahorro anual estimado: $155,676  |  Drivers: Infraestructura AWS 26% más barata, Graviton2, Spot para jobs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03  |  CASO DESTACADO: AZURE DATABASE POSTGRESQL → AMAZON AURORA POSTGRESQL (55% AHORRO)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5303520" cy="5029200"/>
          </a:xfrm>
          <a:prstGeom prst="rect">
            <a:avLst/>
          </a:prstGeom>
          <a:solidFill>
            <a:srgbClr val="FFEBEE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30352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AZURE AZURE DATABASE POSTGRESQL (Actual)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5120640" cy="384048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3438"/>
                </a:solidFill>
              </a:rPr>
              <a:t>Azure Database PostgreSQL (Prod)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73736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13438"/>
                </a:solidFill>
              </a:rPr>
              <a:t>$10,084.00/mes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03120"/>
            <a:ext cx="5120640" cy="384048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488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3438"/>
                </a:solidFill>
              </a:rPr>
              <a:t>Azure Database PostgreSQL (QA)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14884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13438"/>
                </a:solidFill>
              </a:rPr>
              <a:t>$873.00/mes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514600"/>
            <a:ext cx="5120640" cy="384048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56032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3438"/>
                </a:solidFill>
              </a:rPr>
              <a:t>Azure Database PostgreSQL (Dev)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56032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13438"/>
                </a:solidFill>
              </a:rPr>
              <a:t>$68.00/mes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926080"/>
            <a:ext cx="5120640" cy="384048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97180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3438"/>
                </a:solidFill>
              </a:rPr>
              <a:t>Azure Database PostgreSQL (CentralHub)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97180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13438"/>
                </a:solidFill>
              </a:rPr>
              <a:t>$53.00/mes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337560"/>
            <a:ext cx="5120640" cy="384048"/>
          </a:xfrm>
          <a:prstGeom prst="rect">
            <a:avLst/>
          </a:prstGeom>
          <a:solidFill>
            <a:srgbClr val="C0392B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38328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TOTAL MENSUAL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338328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$11,078.00/mes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2743200"/>
            <a:ext cx="822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7C10"/>
                </a:solidFill>
              </a:rPr>
              <a:t>→
55%
Ahorro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5120" y="1097280"/>
            <a:ext cx="5212080" cy="5029200"/>
          </a:xfrm>
          <a:prstGeom prst="rect">
            <a:avLst/>
          </a:prstGeom>
          <a:solidFill>
            <a:srgbClr val="E8F5E9"/>
          </a:solidFill>
          <a:ln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75120" y="1097280"/>
            <a:ext cx="5212080" cy="45720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1143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AWS AMAZON AURORA POSTGRESQL (Propuesto)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0" y="1691640"/>
            <a:ext cx="5029200" cy="384048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17373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7C10"/>
                </a:solidFill>
              </a:rPr>
              <a:t>Amazon Aurora PostgreSQL (Prod)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173736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07C10"/>
                </a:solidFill>
              </a:rPr>
              <a:t>$4,551.36/mes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66560" y="2103120"/>
            <a:ext cx="5029200" cy="384048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0" y="21488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7C10"/>
                </a:solidFill>
              </a:rPr>
              <a:t>Amazon Aurora PostgreSQL (QA)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214884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07C10"/>
                </a:solidFill>
              </a:rPr>
              <a:t>$394.02/mes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66560" y="2514600"/>
            <a:ext cx="5029200" cy="384048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256032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7C10"/>
                </a:solidFill>
              </a:rPr>
              <a:t>Amazon Aurora PostgreSQL (Dev)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256032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07C10"/>
                </a:solidFill>
              </a:rPr>
              <a:t>$30.69/mes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66560" y="2926080"/>
            <a:ext cx="5029200" cy="384048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0" y="297180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7C10"/>
                </a:solidFill>
              </a:rPr>
              <a:t>Amazon Aurora PostgreSQL (CentralHub)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0" y="297180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07C10"/>
                </a:solidFill>
              </a:rPr>
              <a:t>$23.92/mes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66560" y="3337560"/>
            <a:ext cx="5029200" cy="384048"/>
          </a:xfrm>
          <a:prstGeom prst="rect">
            <a:avLst/>
          </a:prstGeom>
          <a:solidFill>
            <a:srgbClr val="107C10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0" y="338328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TOTAL MENSUAL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75520" y="338328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$5,000.00/mes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6309360"/>
            <a:ext cx="11430000" cy="365760"/>
          </a:xfrm>
          <a:prstGeom prst="rect">
            <a:avLst/>
          </a:prstGeom>
          <a:solidFill>
            <a:srgbClr val="107C10"/>
          </a:solidFill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💡  Ahorro anual estimado: $72,936  |  Drivers: Aurora Graviton3, Reserved Instances 1yr, eliminación instancias QA/Dev sobredimensionadas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03  |  CASO DESTACADO: MICROSOFT DEFENDER FOR CLOUD → AWS SECURITY HUB (88% AHORRO)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5303520" cy="5029200"/>
          </a:xfrm>
          <a:prstGeom prst="rect">
            <a:avLst/>
          </a:prstGeom>
          <a:solidFill>
            <a:srgbClr val="FFEBEE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30352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AZURE MICROSOFT DEFENDER FOR CLOUD (Actual)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5120640" cy="384048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3438"/>
                </a:solidFill>
              </a:rPr>
              <a:t>Microsoft Defender for Cloud (Prod)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73736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13438"/>
                </a:solidFill>
              </a:rPr>
              <a:t>$9,293.00/mes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03120"/>
            <a:ext cx="5120640" cy="384048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488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3438"/>
                </a:solidFill>
              </a:rPr>
              <a:t>Microsoft Defender for Cloud (QA)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14884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13438"/>
                </a:solidFill>
              </a:rPr>
              <a:t>$271.00/mes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514600"/>
            <a:ext cx="5120640" cy="384048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56032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3438"/>
                </a:solidFill>
              </a:rPr>
              <a:t>Microsoft Defender for Cloud (CentralHub)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56032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13438"/>
                </a:solidFill>
              </a:rPr>
              <a:t>$638.00/mes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926080"/>
            <a:ext cx="5120640" cy="384048"/>
          </a:xfrm>
          <a:prstGeom prst="rect">
            <a:avLst/>
          </a:prstGeom>
          <a:solidFill>
            <a:srgbClr val="C0392B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97180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TOTAL MENSUAL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97180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$10,202.00/mes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2743200"/>
            <a:ext cx="822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7C10"/>
                </a:solidFill>
              </a:rPr>
              <a:t>→
88%
Ahorro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1097280"/>
            <a:ext cx="5212080" cy="5029200"/>
          </a:xfrm>
          <a:prstGeom prst="rect">
            <a:avLst/>
          </a:prstGeom>
          <a:solidFill>
            <a:srgbClr val="E8F5E9"/>
          </a:solidFill>
          <a:ln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75120" y="1097280"/>
            <a:ext cx="5212080" cy="45720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1143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AWS AWS SECURITY HUB (Propuesto)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6560" y="1691640"/>
            <a:ext cx="5029200" cy="384048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17373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7C10"/>
                </a:solidFill>
              </a:rPr>
              <a:t>AWS Security Hub (Prod)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173736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07C10"/>
                </a:solidFill>
              </a:rPr>
              <a:t>$1,093.08/mes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0" y="2103120"/>
            <a:ext cx="5029200" cy="384048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21488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7C10"/>
                </a:solidFill>
              </a:rPr>
              <a:t>AWS Security Hub (QA)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214884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07C10"/>
                </a:solidFill>
              </a:rPr>
              <a:t>$31.88/mes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66560" y="2514600"/>
            <a:ext cx="5029200" cy="384048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0" y="256032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7C10"/>
                </a:solidFill>
              </a:rPr>
              <a:t>AWS Security Hub (CentralHub)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256032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07C10"/>
                </a:solidFill>
              </a:rPr>
              <a:t>$75.04/mes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66560" y="2926080"/>
            <a:ext cx="5029200" cy="384048"/>
          </a:xfrm>
          <a:prstGeom prst="rect">
            <a:avLst/>
          </a:prstGeom>
          <a:solidFill>
            <a:srgbClr val="107C10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297180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TOTAL MENSUAL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297180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$1,200.00/mes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6309360"/>
            <a:ext cx="11430000" cy="365760"/>
          </a:xfrm>
          <a:prstGeom prst="rect">
            <a:avLst/>
          </a:prstGeom>
          <a:solidFill>
            <a:srgbClr val="107C10"/>
          </a:solidFill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💡  Ahorro anual estimado: $108,024  |  Drivers: Modelo pay-per-resource vs flat fee, consolidación en Security Hub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03  |  CASO DESTACADO: LOG ANALYTICS → AMAZON CLOUDWATCH (89% AHORRO)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5303520" cy="5029200"/>
          </a:xfrm>
          <a:prstGeom prst="rect">
            <a:avLst/>
          </a:prstGeom>
          <a:solidFill>
            <a:srgbClr val="FFEBEE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30352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AZURE LOG ANALYTICS (Actual)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5120640" cy="384048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3438"/>
                </a:solidFill>
              </a:rPr>
              <a:t>Log Analytics (Prod)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73736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13438"/>
                </a:solidFill>
              </a:rPr>
              <a:t>$5,548.00/mes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03120"/>
            <a:ext cx="5120640" cy="384048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488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3438"/>
                </a:solidFill>
              </a:rPr>
              <a:t>Log Analytics (QA)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14884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13438"/>
                </a:solidFill>
              </a:rPr>
              <a:t>$43.00/mes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514600"/>
            <a:ext cx="5120640" cy="384048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56032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3438"/>
                </a:solidFill>
              </a:rPr>
              <a:t>Log Analytics (CentralHub)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56032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13438"/>
                </a:solidFill>
              </a:rPr>
              <a:t>$1,018.00/mes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926080"/>
            <a:ext cx="5120640" cy="384048"/>
          </a:xfrm>
          <a:prstGeom prst="rect">
            <a:avLst/>
          </a:prstGeom>
          <a:solidFill>
            <a:srgbClr val="C0392B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97180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TOTAL MENSUAL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97180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$6,609.00/mes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2743200"/>
            <a:ext cx="822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7C10"/>
                </a:solidFill>
              </a:rPr>
              <a:t>→
89%
Ahorro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1097280"/>
            <a:ext cx="5212080" cy="5029200"/>
          </a:xfrm>
          <a:prstGeom prst="rect">
            <a:avLst/>
          </a:prstGeom>
          <a:solidFill>
            <a:srgbClr val="E8F5E9"/>
          </a:solidFill>
          <a:ln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75120" y="1097280"/>
            <a:ext cx="5212080" cy="45720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1143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AWS AMAZON CLOUDWATCH (Propuesto)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6560" y="1691640"/>
            <a:ext cx="5029200" cy="384048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17373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7C10"/>
                </a:solidFill>
              </a:rPr>
              <a:t>Amazon CloudWatch (Prod)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173736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07C10"/>
                </a:solidFill>
              </a:rPr>
              <a:t>$587.62/mes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0" y="2103120"/>
            <a:ext cx="5029200" cy="384048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21488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7C10"/>
                </a:solidFill>
              </a:rPr>
              <a:t>Amazon CloudWatch (QA)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214884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07C10"/>
                </a:solidFill>
              </a:rPr>
              <a:t>$4.55/mes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66560" y="2514600"/>
            <a:ext cx="5029200" cy="384048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0" y="256032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7C10"/>
                </a:solidFill>
              </a:rPr>
              <a:t>Amazon CloudWatch (CentralHub)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256032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07C10"/>
                </a:solidFill>
              </a:rPr>
              <a:t>$107.82/mes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66560" y="2926080"/>
            <a:ext cx="5029200" cy="384048"/>
          </a:xfrm>
          <a:prstGeom prst="rect">
            <a:avLst/>
          </a:prstGeom>
          <a:solidFill>
            <a:srgbClr val="107C10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297180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TOTAL MENSUAL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297180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$700.00/mes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6309360"/>
            <a:ext cx="11430000" cy="365760"/>
          </a:xfrm>
          <a:prstGeom prst="rect">
            <a:avLst/>
          </a:prstGeom>
          <a:solidFill>
            <a:srgbClr val="107C10"/>
          </a:solidFill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💡  Ahorro anual estimado: $70,908  |  Drivers: CloudWatch $0.50/GB vs Log Analytics variable, retención configurable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03  |  CASO DESTACADO: AZURE COSMOS DB → AMAZON DOCUMENTDB (60% AHORRO)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5303520" cy="5029200"/>
          </a:xfrm>
          <a:prstGeom prst="rect">
            <a:avLst/>
          </a:prstGeom>
          <a:solidFill>
            <a:srgbClr val="FFEBEE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30352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AZURE AZURE COSMOS DB (Actual)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5120640" cy="384048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3438"/>
                </a:solidFill>
              </a:rPr>
              <a:t>Azure Cosmos DB (Prod)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73736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13438"/>
                </a:solidFill>
              </a:rPr>
              <a:t>$1,858.00/mes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03120"/>
            <a:ext cx="5120640" cy="384048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488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3438"/>
                </a:solidFill>
              </a:rPr>
              <a:t>Azure Cosmos DB (QA)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14884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13438"/>
                </a:solidFill>
              </a:rPr>
              <a:t>$405.00/mes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514600"/>
            <a:ext cx="5120640" cy="384048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56032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3438"/>
                </a:solidFill>
              </a:rPr>
              <a:t>Azure Cosmos DB (Dev)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56032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13438"/>
                </a:solidFill>
              </a:rPr>
              <a:t>$90.00/mes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926080"/>
            <a:ext cx="5120640" cy="384048"/>
          </a:xfrm>
          <a:prstGeom prst="rect">
            <a:avLst/>
          </a:prstGeom>
          <a:solidFill>
            <a:srgbClr val="C0392B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97180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TOTAL MENSUAL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97180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$2,353.00/mes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2743200"/>
            <a:ext cx="822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7C10"/>
                </a:solidFill>
              </a:rPr>
              <a:t>→
60%
Ahorro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1097280"/>
            <a:ext cx="5212080" cy="5029200"/>
          </a:xfrm>
          <a:prstGeom prst="rect">
            <a:avLst/>
          </a:prstGeom>
          <a:solidFill>
            <a:srgbClr val="E8F5E9"/>
          </a:solidFill>
          <a:ln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75120" y="1097280"/>
            <a:ext cx="5212080" cy="45720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1143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AWS AMAZON DOCUMENTDB (Propuesto)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6560" y="1691640"/>
            <a:ext cx="5029200" cy="384048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17373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7C10"/>
                </a:solidFill>
              </a:rPr>
              <a:t>Amazon DocumentDB (Prod)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173736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07C10"/>
                </a:solidFill>
              </a:rPr>
              <a:t>$750.15/mes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0" y="2103120"/>
            <a:ext cx="5029200" cy="384048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21488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7C10"/>
                </a:solidFill>
              </a:rPr>
              <a:t>Amazon DocumentDB (QA)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214884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07C10"/>
                </a:solidFill>
              </a:rPr>
              <a:t>$163.51/mes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66560" y="2514600"/>
            <a:ext cx="5029200" cy="384048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0" y="256032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7C10"/>
                </a:solidFill>
              </a:rPr>
              <a:t>Amazon DocumentDB (Dev)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256032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07C10"/>
                </a:solidFill>
              </a:rPr>
              <a:t>$36.34/mes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66560" y="2926080"/>
            <a:ext cx="5029200" cy="384048"/>
          </a:xfrm>
          <a:prstGeom prst="rect">
            <a:avLst/>
          </a:prstGeom>
          <a:solidFill>
            <a:srgbClr val="107C10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297180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TOTAL MENSUAL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297180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$950.00/mes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6309360"/>
            <a:ext cx="11430000" cy="365760"/>
          </a:xfrm>
          <a:prstGeom prst="rect">
            <a:avLst/>
          </a:prstGeom>
          <a:solidFill>
            <a:srgbClr val="107C10"/>
          </a:solidFill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💡  Ahorro anual estimado: $16,836  |  Drivers: Graviton2 (r6g), Reserved Instances, eliminación RU/s fijos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03  |  CASO DESTACADO: BACKUP → AWS BACKUP (56% AHORRO)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5303520" cy="5029200"/>
          </a:xfrm>
          <a:prstGeom prst="rect">
            <a:avLst/>
          </a:prstGeom>
          <a:solidFill>
            <a:srgbClr val="FFEBEE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30352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AZURE BACKUP (Actual)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5120640" cy="384048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3438"/>
                </a:solidFill>
              </a:rPr>
              <a:t>Backup (Prod)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73736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13438"/>
                </a:solidFill>
              </a:rPr>
              <a:t>$1,518.00/mes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03120"/>
            <a:ext cx="5120640" cy="384048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488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3438"/>
                </a:solidFill>
              </a:rPr>
              <a:t>Backup (QA)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14884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13438"/>
                </a:solidFill>
              </a:rPr>
              <a:t>$527.00/mes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514600"/>
            <a:ext cx="5120640" cy="384048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56032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3438"/>
                </a:solidFill>
              </a:rPr>
              <a:t>Backup (CentralHub)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56032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13438"/>
                </a:solidFill>
              </a:rPr>
              <a:t>$124.00/mes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926080"/>
            <a:ext cx="5120640" cy="384048"/>
          </a:xfrm>
          <a:prstGeom prst="rect">
            <a:avLst/>
          </a:prstGeom>
          <a:solidFill>
            <a:srgbClr val="C0392B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97180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TOTAL MENSUAL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97180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$2,169.00/mes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2743200"/>
            <a:ext cx="822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7C10"/>
                </a:solidFill>
              </a:rPr>
              <a:t>→
56%
Ahorro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1097280"/>
            <a:ext cx="5212080" cy="5029200"/>
          </a:xfrm>
          <a:prstGeom prst="rect">
            <a:avLst/>
          </a:prstGeom>
          <a:solidFill>
            <a:srgbClr val="E8F5E9"/>
          </a:solidFill>
          <a:ln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75120" y="1097280"/>
            <a:ext cx="5212080" cy="45720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1143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AWS AWS BACKUP (Propuesto)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6560" y="1691640"/>
            <a:ext cx="5029200" cy="384048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17373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7C10"/>
                </a:solidFill>
              </a:rPr>
              <a:t>AWS Backup (Prod)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173736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07C10"/>
                </a:solidFill>
              </a:rPr>
              <a:t>$664.87/mes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0" y="2103120"/>
            <a:ext cx="5029200" cy="384048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21488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7C10"/>
                </a:solidFill>
              </a:rPr>
              <a:t>AWS Backup (QA)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214884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07C10"/>
                </a:solidFill>
              </a:rPr>
              <a:t>$230.82/mes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66560" y="2514600"/>
            <a:ext cx="5029200" cy="384048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0" y="256032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7C10"/>
                </a:solidFill>
              </a:rPr>
              <a:t>AWS Backup (CentralHub)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256032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07C10"/>
                </a:solidFill>
              </a:rPr>
              <a:t>$54.31/mes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66560" y="2926080"/>
            <a:ext cx="5029200" cy="384048"/>
          </a:xfrm>
          <a:prstGeom prst="rect">
            <a:avLst/>
          </a:prstGeom>
          <a:solidFill>
            <a:srgbClr val="107C10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297180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TOTAL MENSUAL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297180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$950.00/mes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6309360"/>
            <a:ext cx="11430000" cy="365760"/>
          </a:xfrm>
          <a:prstGeom prst="rect">
            <a:avLst/>
          </a:prstGeom>
          <a:solidFill>
            <a:srgbClr val="107C10"/>
          </a:solidFill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💡  Ahorro anual estimado: $14,628  |  Drivers: Consolidación en AWS Backup, lifecycle policies automáticas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03  |  CASO DESTACADO: AZURE DATA FACTORY V2 → AWS GLUE (70% AHORRO)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5303520" cy="5029200"/>
          </a:xfrm>
          <a:prstGeom prst="rect">
            <a:avLst/>
          </a:prstGeom>
          <a:solidFill>
            <a:srgbClr val="FFEBEE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30352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AZURE AZURE DATA FACTORY V2 (Actual)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5120640" cy="384048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3438"/>
                </a:solidFill>
              </a:rPr>
              <a:t>Azure Data Factory v2 (Prod)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73736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13438"/>
                </a:solidFill>
              </a:rPr>
              <a:t>$1,476.00/mes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03120"/>
            <a:ext cx="5120640" cy="384048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488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3438"/>
                </a:solidFill>
              </a:rPr>
              <a:t>Azure Data Factory v2 (QA)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14884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13438"/>
                </a:solidFill>
              </a:rPr>
              <a:t>$148.00/mes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514600"/>
            <a:ext cx="5120640" cy="384048"/>
          </a:xfrm>
          <a:prstGeom prst="rect">
            <a:avLst/>
          </a:prstGeom>
          <a:solidFill>
            <a:srgbClr val="C0392B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56032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TOTAL MENSUAL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56032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$1,624.00/mes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743200"/>
            <a:ext cx="822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7C10"/>
                </a:solidFill>
              </a:rPr>
              <a:t>→
70%
Ahorro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1097280"/>
            <a:ext cx="5212080" cy="5029200"/>
          </a:xfrm>
          <a:prstGeom prst="rect">
            <a:avLst/>
          </a:prstGeom>
          <a:solidFill>
            <a:srgbClr val="E8F5E9"/>
          </a:solidFill>
          <a:ln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1097280"/>
            <a:ext cx="5212080" cy="45720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1143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AWS AWS GLUE (Propuesto)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0" y="1691640"/>
            <a:ext cx="5029200" cy="384048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17373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7C10"/>
                </a:solidFill>
              </a:rPr>
              <a:t>AWS Glue (Prod)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173736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07C10"/>
                </a:solidFill>
              </a:rPr>
              <a:t>$436.26/mes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6560" y="2103120"/>
            <a:ext cx="5029200" cy="384048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21488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7C10"/>
                </a:solidFill>
              </a:rPr>
              <a:t>AWS Glue (QA)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214884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07C10"/>
                </a:solidFill>
              </a:rPr>
              <a:t>$43.74/mes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0" y="2514600"/>
            <a:ext cx="5029200" cy="384048"/>
          </a:xfrm>
          <a:prstGeom prst="rect">
            <a:avLst/>
          </a:prstGeom>
          <a:solidFill>
            <a:srgbClr val="107C10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256032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TOTAL MENSUAL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256032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$480.00/mes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6309360"/>
            <a:ext cx="11430000" cy="365760"/>
          </a:xfrm>
          <a:prstGeom prst="rect">
            <a:avLst/>
          </a:prstGeom>
          <a:solidFill>
            <a:srgbClr val="107C10"/>
          </a:solidFill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💡  Ahorro anual estimado: $13,728  |  Drivers: Glue serverless vs ADF Integration Runtime fijo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03  |  CASO DESTACADO: AZURE APP SERVICE → AWS ELASTIC BEANSTALK (51% AHORRO)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5303520" cy="5029200"/>
          </a:xfrm>
          <a:prstGeom prst="rect">
            <a:avLst/>
          </a:prstGeom>
          <a:solidFill>
            <a:srgbClr val="FFEBEE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30352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AZURE AZURE APP SERVICE (Actual)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5120640" cy="384048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3438"/>
                </a:solidFill>
              </a:rPr>
              <a:t>Azure App Service (Prod)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73736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13438"/>
                </a:solidFill>
              </a:rPr>
              <a:t>$1,404.00/mes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03120"/>
            <a:ext cx="5120640" cy="384048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488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3438"/>
                </a:solidFill>
              </a:rPr>
              <a:t>Azure App Service (QA)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14884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13438"/>
                </a:solidFill>
              </a:rPr>
              <a:t>$534.00/mes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514600"/>
            <a:ext cx="5120640" cy="384048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56032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3438"/>
                </a:solidFill>
              </a:rPr>
              <a:t>Azure App Service (Dev)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56032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13438"/>
                </a:solidFill>
              </a:rPr>
              <a:t>$16.00/mes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926080"/>
            <a:ext cx="5120640" cy="384048"/>
          </a:xfrm>
          <a:prstGeom prst="rect">
            <a:avLst/>
          </a:prstGeom>
          <a:solidFill>
            <a:srgbClr val="C0392B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97180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TOTAL MENSUAL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97180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$1,954.00/mes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2743200"/>
            <a:ext cx="822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7C10"/>
                </a:solidFill>
              </a:rPr>
              <a:t>→
51%
Ahorro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1097280"/>
            <a:ext cx="5212080" cy="5029200"/>
          </a:xfrm>
          <a:prstGeom prst="rect">
            <a:avLst/>
          </a:prstGeom>
          <a:solidFill>
            <a:srgbClr val="E8F5E9"/>
          </a:solidFill>
          <a:ln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75120" y="1097280"/>
            <a:ext cx="5212080" cy="45720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1143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AWS AWS ELASTIC BEANSTALK (Propuesto)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6560" y="1691640"/>
            <a:ext cx="5029200" cy="384048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17373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7C10"/>
                </a:solidFill>
              </a:rPr>
              <a:t>AWS Elastic Beanstalk (Prod)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173736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07C10"/>
                </a:solidFill>
              </a:rPr>
              <a:t>$690.50/mes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0" y="2103120"/>
            <a:ext cx="5029200" cy="384048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21488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7C10"/>
                </a:solidFill>
              </a:rPr>
              <a:t>AWS Elastic Beanstalk (QA)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214884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07C10"/>
                </a:solidFill>
              </a:rPr>
              <a:t>$262.63/mes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66560" y="2514600"/>
            <a:ext cx="5029200" cy="384048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0" y="256032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7C10"/>
                </a:solidFill>
              </a:rPr>
              <a:t>AWS Elastic Beanstalk (Dev)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256032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07C10"/>
                </a:solidFill>
              </a:rPr>
              <a:t>$7.87/mes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66560" y="2926080"/>
            <a:ext cx="5029200" cy="384048"/>
          </a:xfrm>
          <a:prstGeom prst="rect">
            <a:avLst/>
          </a:prstGeom>
          <a:solidFill>
            <a:srgbClr val="107C10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297180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TOTAL MENSUAL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297180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$961.00/mes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6309360"/>
            <a:ext cx="11430000" cy="365760"/>
          </a:xfrm>
          <a:prstGeom prst="rect">
            <a:avLst/>
          </a:prstGeom>
          <a:solidFill>
            <a:srgbClr val="107C10"/>
          </a:solidFill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💡  Ahorro anual estimado: $11,916  |  Drivers: t3/m6i vs Premium P0v3 (65% ahorro), Lambda para Functions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03  |  CASO DESTACADO: SQL DATABASE → AMAZON RDS FOR SQL SERVER / BA (52% AHORRO)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5303520" cy="5029200"/>
          </a:xfrm>
          <a:prstGeom prst="rect">
            <a:avLst/>
          </a:prstGeom>
          <a:solidFill>
            <a:srgbClr val="FFEBEE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30352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AZURE SQL DATABASE (Actual)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5120640" cy="384048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3438"/>
                </a:solidFill>
              </a:rPr>
              <a:t>SQL Database (Prod)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73736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13438"/>
                </a:solidFill>
              </a:rPr>
              <a:t>$965.00/mes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03120"/>
            <a:ext cx="5120640" cy="384048"/>
          </a:xfrm>
          <a:prstGeom prst="rect">
            <a:avLst/>
          </a:prstGeom>
          <a:solidFill>
            <a:srgbClr val="C0392B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488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TOTAL MENSUAL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14884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$965.00/mes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2743200"/>
            <a:ext cx="822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7C10"/>
                </a:solidFill>
              </a:rPr>
              <a:t>→
52%
Ahorro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1097280"/>
            <a:ext cx="5212080" cy="5029200"/>
          </a:xfrm>
          <a:prstGeom prst="rect">
            <a:avLst/>
          </a:prstGeom>
          <a:solidFill>
            <a:srgbClr val="E8F5E9"/>
          </a:solidFill>
          <a:ln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75120" y="1097280"/>
            <a:ext cx="5212080" cy="45720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1143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AWS AMAZON RDS FOR SQL SERVER / BA (Propuesto)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1691640"/>
            <a:ext cx="5029200" cy="384048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17373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7C10"/>
                </a:solidFill>
              </a:rPr>
              <a:t>Amazon RDS for SQL Server / Ba (Prod)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173736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07C10"/>
                </a:solidFill>
              </a:rPr>
              <a:t>$460.00/mes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0" y="2103120"/>
            <a:ext cx="5029200" cy="384048"/>
          </a:xfrm>
          <a:prstGeom prst="rect">
            <a:avLst/>
          </a:prstGeom>
          <a:solidFill>
            <a:srgbClr val="107C10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21488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TOTAL MENSUAL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214884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$460.00/mes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6309360"/>
            <a:ext cx="11430000" cy="365760"/>
          </a:xfrm>
          <a:prstGeom prst="rect">
            <a:avLst/>
          </a:prstGeom>
          <a:solidFill>
            <a:srgbClr val="107C10"/>
          </a:solidFill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💡  Ahorro anual estimado: $6,060  |  Drivers: Reserved Instances, Babelfish elimina licencia SQL Server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03  |  CASO DESTACADO: VIRTUAL NETWORK → AMAZON VPC (39% AHORRO)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5303520" cy="5029200"/>
          </a:xfrm>
          <a:prstGeom prst="rect">
            <a:avLst/>
          </a:prstGeom>
          <a:solidFill>
            <a:srgbClr val="FFEBEE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30352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AZURE VIRTUAL NETWORK (Actual)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5120640" cy="384048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3438"/>
                </a:solidFill>
              </a:rPr>
              <a:t>Virtual Network (Prod)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73736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13438"/>
                </a:solidFill>
              </a:rPr>
              <a:t>$706.00/mes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03120"/>
            <a:ext cx="5120640" cy="384048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488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3438"/>
                </a:solidFill>
              </a:rPr>
              <a:t>Virtual Network (QA)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14884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13438"/>
                </a:solidFill>
              </a:rPr>
              <a:t>$304.00/mes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514600"/>
            <a:ext cx="5120640" cy="384048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56032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3438"/>
                </a:solidFill>
              </a:rPr>
              <a:t>Virtual Network (Dev)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56032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13438"/>
                </a:solidFill>
              </a:rPr>
              <a:t>$147.00/mes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926080"/>
            <a:ext cx="5120640" cy="384048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97180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3438"/>
                </a:solidFill>
              </a:rPr>
              <a:t>Virtual Network (CentralHub)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97180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13438"/>
                </a:solidFill>
              </a:rPr>
              <a:t>$244.00/mes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337560"/>
            <a:ext cx="5120640" cy="384048"/>
          </a:xfrm>
          <a:prstGeom prst="rect">
            <a:avLst/>
          </a:prstGeom>
          <a:solidFill>
            <a:srgbClr val="C0392B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38328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TOTAL MENSUAL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338328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$1,401.00/mes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2743200"/>
            <a:ext cx="822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7C10"/>
                </a:solidFill>
              </a:rPr>
              <a:t>→
39%
Ahorro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5120" y="1097280"/>
            <a:ext cx="5212080" cy="5029200"/>
          </a:xfrm>
          <a:prstGeom prst="rect">
            <a:avLst/>
          </a:prstGeom>
          <a:solidFill>
            <a:srgbClr val="E8F5E9"/>
          </a:solidFill>
          <a:ln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75120" y="1097280"/>
            <a:ext cx="5212080" cy="45720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1143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AWS AMAZON VPC (Propuesto)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0" y="1691640"/>
            <a:ext cx="5029200" cy="384048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17373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7C10"/>
                </a:solidFill>
              </a:rPr>
              <a:t>Amazon VPC (Prod)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173736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07C10"/>
                </a:solidFill>
              </a:rPr>
              <a:t>$428.34/mes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66560" y="2103120"/>
            <a:ext cx="5029200" cy="384048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0" y="21488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7C10"/>
                </a:solidFill>
              </a:rPr>
              <a:t>Amazon VPC (QA)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214884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07C10"/>
                </a:solidFill>
              </a:rPr>
              <a:t>$184.44/mes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66560" y="2514600"/>
            <a:ext cx="5029200" cy="384048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256032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7C10"/>
                </a:solidFill>
              </a:rPr>
              <a:t>Amazon VPC (Dev)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256032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07C10"/>
                </a:solidFill>
              </a:rPr>
              <a:t>$89.19/mes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66560" y="2926080"/>
            <a:ext cx="5029200" cy="384048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0" y="297180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7C10"/>
                </a:solidFill>
              </a:rPr>
              <a:t>Amazon VPC (CentralHub)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0" y="297180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07C10"/>
                </a:solidFill>
              </a:rPr>
              <a:t>$148.04/mes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66560" y="3337560"/>
            <a:ext cx="5029200" cy="384048"/>
          </a:xfrm>
          <a:prstGeom prst="rect">
            <a:avLst/>
          </a:prstGeom>
          <a:solidFill>
            <a:srgbClr val="107C10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0" y="338328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TOTAL MENSUAL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75520" y="338328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$850.00/mes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6309360"/>
            <a:ext cx="11430000" cy="365760"/>
          </a:xfrm>
          <a:prstGeom prst="rect">
            <a:avLst/>
          </a:prstGeom>
          <a:solidFill>
            <a:srgbClr val="107C10"/>
          </a:solidFill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💡  Ahorro anual estimado: $6,612  |  Drivers: Transit Gateway consolida peerings, VPC Endpoints sin costo por conexión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03  |  CASO DESTACADO: NAT GATEWAY → AWS NAT GATEWAY (42% AHORRO)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5303520" cy="5029200"/>
          </a:xfrm>
          <a:prstGeom prst="rect">
            <a:avLst/>
          </a:prstGeom>
          <a:solidFill>
            <a:srgbClr val="FFEBEE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30352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AZURE NAT GATEWAY (Actual)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5120640" cy="384048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3438"/>
                </a:solidFill>
              </a:rPr>
              <a:t>NAT Gateway (Prod)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73736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13438"/>
                </a:solidFill>
              </a:rPr>
              <a:t>$421.00/mes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03120"/>
            <a:ext cx="5120640" cy="384048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488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3438"/>
                </a:solidFill>
              </a:rPr>
              <a:t>NAT Gateway (QA)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14884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13438"/>
                </a:solidFill>
              </a:rPr>
              <a:t>$262.00/mes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514600"/>
            <a:ext cx="5120640" cy="384048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56032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3438"/>
                </a:solidFill>
              </a:rPr>
              <a:t>NAT Gateway (Dev)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56032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13438"/>
                </a:solidFill>
              </a:rPr>
              <a:t>$42.00/mes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926080"/>
            <a:ext cx="5120640" cy="384048"/>
          </a:xfrm>
          <a:prstGeom prst="rect">
            <a:avLst/>
          </a:prstGeom>
          <a:solidFill>
            <a:srgbClr val="C0392B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97180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TOTAL MENSUAL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97180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$725.00/mes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2743200"/>
            <a:ext cx="822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7C10"/>
                </a:solidFill>
              </a:rPr>
              <a:t>→
42%
Ahorro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1097280"/>
            <a:ext cx="5212080" cy="5029200"/>
          </a:xfrm>
          <a:prstGeom prst="rect">
            <a:avLst/>
          </a:prstGeom>
          <a:solidFill>
            <a:srgbClr val="E8F5E9"/>
          </a:solidFill>
          <a:ln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75120" y="1097280"/>
            <a:ext cx="5212080" cy="45720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1143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AWS AWS NAT GATEWAY (Propuesto)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6560" y="1691640"/>
            <a:ext cx="5029200" cy="384048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17373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7C10"/>
                </a:solidFill>
              </a:rPr>
              <a:t>AWS NAT Gateway (Prod)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173736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07C10"/>
                </a:solidFill>
              </a:rPr>
              <a:t>$243.89/mes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0" y="2103120"/>
            <a:ext cx="5029200" cy="384048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21488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7C10"/>
                </a:solidFill>
              </a:rPr>
              <a:t>AWS NAT Gateway (QA)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214884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07C10"/>
                </a:solidFill>
              </a:rPr>
              <a:t>$151.78/mes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66560" y="2514600"/>
            <a:ext cx="5029200" cy="384048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0" y="256032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7C10"/>
                </a:solidFill>
              </a:rPr>
              <a:t>AWS NAT Gateway (Dev)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256032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07C10"/>
                </a:solidFill>
              </a:rPr>
              <a:t>$24.33/mes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66560" y="2926080"/>
            <a:ext cx="5029200" cy="384048"/>
          </a:xfrm>
          <a:prstGeom prst="rect">
            <a:avLst/>
          </a:prstGeom>
          <a:solidFill>
            <a:srgbClr val="107C10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297180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TOTAL MENSUAL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297180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$420.00/mes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6309360"/>
            <a:ext cx="11430000" cy="365760"/>
          </a:xfrm>
          <a:prstGeom prst="rect">
            <a:avLst/>
          </a:prstGeom>
          <a:solidFill>
            <a:srgbClr val="107C10"/>
          </a:solidFill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💡  Ahorro anual estimado: $3,660  |  Drivers: Consolidación de NAT GW, optimización de data transfer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03  |  CASO DESTACADO: LOAD BALANCER → AWS ALB (46% AHORRO)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5303520" cy="5029200"/>
          </a:xfrm>
          <a:prstGeom prst="rect">
            <a:avLst/>
          </a:prstGeom>
          <a:solidFill>
            <a:srgbClr val="FFEBEE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30352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AZURE LOAD BALANCER (Actual)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5120640" cy="384048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3438"/>
                </a:solidFill>
              </a:rPr>
              <a:t>Load Balancer (Prod)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73736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13438"/>
                </a:solidFill>
              </a:rPr>
              <a:t>$343.00/mes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03120"/>
            <a:ext cx="5120640" cy="384048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488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3438"/>
                </a:solidFill>
              </a:rPr>
              <a:t>Load Balancer (QA)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14884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13438"/>
                </a:solidFill>
              </a:rPr>
              <a:t>$325.00/mes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514600"/>
            <a:ext cx="5120640" cy="384048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56032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3438"/>
                </a:solidFill>
              </a:rPr>
              <a:t>Load Balancer (Dev)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56032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13438"/>
                </a:solidFill>
              </a:rPr>
              <a:t>$228.00/mes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926080"/>
            <a:ext cx="5120640" cy="384048"/>
          </a:xfrm>
          <a:prstGeom prst="rect">
            <a:avLst/>
          </a:prstGeom>
          <a:solidFill>
            <a:srgbClr val="C0392B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97180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TOTAL MENSUAL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97180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$896.00/mes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2743200"/>
            <a:ext cx="822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7C10"/>
                </a:solidFill>
              </a:rPr>
              <a:t>→
46%
Ahorro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1097280"/>
            <a:ext cx="5212080" cy="5029200"/>
          </a:xfrm>
          <a:prstGeom prst="rect">
            <a:avLst/>
          </a:prstGeom>
          <a:solidFill>
            <a:srgbClr val="E8F5E9"/>
          </a:solidFill>
          <a:ln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75120" y="1097280"/>
            <a:ext cx="5212080" cy="45720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1143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AWS AWS ALB (Propuesto)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6560" y="1691640"/>
            <a:ext cx="5029200" cy="384048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17373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7C10"/>
                </a:solidFill>
              </a:rPr>
              <a:t>AWS ALB (Prod)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173736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07C10"/>
                </a:solidFill>
              </a:rPr>
              <a:t>$183.75/mes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0" y="2103120"/>
            <a:ext cx="5029200" cy="384048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21488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7C10"/>
                </a:solidFill>
              </a:rPr>
              <a:t>AWS ALB (QA)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214884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07C10"/>
                </a:solidFill>
              </a:rPr>
              <a:t>$174.11/mes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66560" y="2514600"/>
            <a:ext cx="5029200" cy="384048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0" y="256032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7C10"/>
                </a:solidFill>
              </a:rPr>
              <a:t>AWS ALB (Dev)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256032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07C10"/>
                </a:solidFill>
              </a:rPr>
              <a:t>$122.14/mes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66560" y="2926080"/>
            <a:ext cx="5029200" cy="384048"/>
          </a:xfrm>
          <a:prstGeom prst="rect">
            <a:avLst/>
          </a:prstGeom>
          <a:solidFill>
            <a:srgbClr val="107C10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297180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TOTAL MENSUAL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297180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$480.00/mes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6309360"/>
            <a:ext cx="11430000" cy="365760"/>
          </a:xfrm>
          <a:prstGeom prst="rect">
            <a:avLst/>
          </a:prstGeom>
          <a:solidFill>
            <a:srgbClr val="107C10"/>
          </a:solidFill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💡  Ahorro anual estimado: $4,992  |  Drivers: ALB LCU-based pricing más eficiente para tráfico variable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03  |  CASO DESTACADO: CONTAINER REGISTRY (ACR) → AMAZON ECR (64% AHORRO)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5303520" cy="5029200"/>
          </a:xfrm>
          <a:prstGeom prst="rect">
            <a:avLst/>
          </a:prstGeom>
          <a:solidFill>
            <a:srgbClr val="FFEBEE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30352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AZURE CONTAINER REGISTRY (ACR) (Actual)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5120640" cy="384048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3438"/>
                </a:solidFill>
              </a:rPr>
              <a:t>Container Registry (ACR) (Prod)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73736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13438"/>
                </a:solidFill>
              </a:rPr>
              <a:t>$270.00/mes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03120"/>
            <a:ext cx="5120640" cy="384048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488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3438"/>
                </a:solidFill>
              </a:rPr>
              <a:t>Container Registry (ACR) (QA)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14884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13438"/>
                </a:solidFill>
              </a:rPr>
              <a:t>$62.00/mes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514600"/>
            <a:ext cx="5120640" cy="384048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56032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3438"/>
                </a:solidFill>
              </a:rPr>
              <a:t>Container Registry (ACR) (Dev)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56032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13438"/>
                </a:solidFill>
              </a:rPr>
              <a:t>$33.00/mes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926080"/>
            <a:ext cx="5120640" cy="384048"/>
          </a:xfrm>
          <a:prstGeom prst="rect">
            <a:avLst/>
          </a:prstGeom>
          <a:solidFill>
            <a:srgbClr val="C0392B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97180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TOTAL MENSUAL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97180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$365.00/mes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2743200"/>
            <a:ext cx="822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7C10"/>
                </a:solidFill>
              </a:rPr>
              <a:t>→
64%
Ahorro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1097280"/>
            <a:ext cx="5212080" cy="5029200"/>
          </a:xfrm>
          <a:prstGeom prst="rect">
            <a:avLst/>
          </a:prstGeom>
          <a:solidFill>
            <a:srgbClr val="E8F5E9"/>
          </a:solidFill>
          <a:ln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75120" y="1097280"/>
            <a:ext cx="5212080" cy="45720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1143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AWS AMAZON ECR (Propuesto)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6560" y="1691640"/>
            <a:ext cx="5029200" cy="384048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17373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7C10"/>
                </a:solidFill>
              </a:rPr>
              <a:t>Amazon ECR (Prod)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173736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07C10"/>
                </a:solidFill>
              </a:rPr>
              <a:t>$96.16/mes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0" y="2103120"/>
            <a:ext cx="5029200" cy="384048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21488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7C10"/>
                </a:solidFill>
              </a:rPr>
              <a:t>Amazon ECR (QA)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214884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07C10"/>
                </a:solidFill>
              </a:rPr>
              <a:t>$22.08/mes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66560" y="2514600"/>
            <a:ext cx="5029200" cy="384048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0" y="256032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7C10"/>
                </a:solidFill>
              </a:rPr>
              <a:t>Amazon ECR (Dev)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256032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07C10"/>
                </a:solidFill>
              </a:rPr>
              <a:t>$11.75/mes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66560" y="2926080"/>
            <a:ext cx="5029200" cy="384048"/>
          </a:xfrm>
          <a:prstGeom prst="rect">
            <a:avLst/>
          </a:prstGeom>
          <a:solidFill>
            <a:srgbClr val="107C10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297180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TOTAL MENSUAL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297180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$130.00/mes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6309360"/>
            <a:ext cx="11430000" cy="365760"/>
          </a:xfrm>
          <a:prstGeom prst="rect">
            <a:avLst/>
          </a:prstGeom>
          <a:solidFill>
            <a:srgbClr val="107C10"/>
          </a:solidFill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💡  Ahorro anual estimado: $2,820  |  Drivers: ECR pricing por GB almacenado, sin tier fijo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03  |  CASO DESTACADO: APPLICATION GATEWAY → AWS ALB (80% AHORRO)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5303520" cy="5029200"/>
          </a:xfrm>
          <a:prstGeom prst="rect">
            <a:avLst/>
          </a:prstGeom>
          <a:solidFill>
            <a:srgbClr val="FFEBEE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30352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AZURE APPLICATION GATEWAY (Actual)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5120640" cy="384048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3438"/>
                </a:solidFill>
              </a:rPr>
              <a:t>Application Gateway (CentralHub)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73736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13438"/>
                </a:solidFill>
              </a:rPr>
              <a:t>$1,080.00/mes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03120"/>
            <a:ext cx="5120640" cy="384048"/>
          </a:xfrm>
          <a:prstGeom prst="rect">
            <a:avLst/>
          </a:prstGeom>
          <a:solidFill>
            <a:srgbClr val="C0392B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488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TOTAL MENSUAL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14884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$1,080.00/mes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2743200"/>
            <a:ext cx="822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7C10"/>
                </a:solidFill>
              </a:rPr>
              <a:t>→
80%
Ahorro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1097280"/>
            <a:ext cx="5212080" cy="5029200"/>
          </a:xfrm>
          <a:prstGeom prst="rect">
            <a:avLst/>
          </a:prstGeom>
          <a:solidFill>
            <a:srgbClr val="E8F5E9"/>
          </a:solidFill>
          <a:ln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75120" y="1097280"/>
            <a:ext cx="5212080" cy="45720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1143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AWS AWS ALB (Propuesto)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1691640"/>
            <a:ext cx="5029200" cy="384048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17373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7C10"/>
                </a:solidFill>
              </a:rPr>
              <a:t>AWS ALB (CentralHub)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173736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07C10"/>
                </a:solidFill>
              </a:rPr>
              <a:t>$220.00/mes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0" y="2103120"/>
            <a:ext cx="5029200" cy="384048"/>
          </a:xfrm>
          <a:prstGeom prst="rect">
            <a:avLst/>
          </a:prstGeom>
          <a:solidFill>
            <a:srgbClr val="107C10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21488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TOTAL MENSUAL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214884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$220.00/mes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6309360"/>
            <a:ext cx="11430000" cy="365760"/>
          </a:xfrm>
          <a:prstGeom prst="rect">
            <a:avLst/>
          </a:prstGeom>
          <a:solidFill>
            <a:srgbClr val="107C10"/>
          </a:solidFill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💡  Ahorro anual estimado: $10,320  |  Drivers: WAF pay-per-rule vs App Gateway WAF v2 fijo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03  |  CASO DESTACADO: AZURE DEVOPS → AWS CODEPIPELINE (45% AHORRO)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5303520" cy="5029200"/>
          </a:xfrm>
          <a:prstGeom prst="rect">
            <a:avLst/>
          </a:prstGeom>
          <a:solidFill>
            <a:srgbClr val="FFEBEE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30352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AZURE AZURE DEVOPS (Actual)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5120640" cy="384048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3438"/>
                </a:solidFill>
              </a:rPr>
              <a:t>Azure DevOps (Dev)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73736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13438"/>
                </a:solidFill>
              </a:rPr>
              <a:t>$50.00/mes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03120"/>
            <a:ext cx="5120640" cy="384048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488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3438"/>
                </a:solidFill>
              </a:rPr>
              <a:t>Azure DevOps (CentralHub)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14884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13438"/>
                </a:solidFill>
              </a:rPr>
              <a:t>$2,151.00/mes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514600"/>
            <a:ext cx="5120640" cy="384048"/>
          </a:xfrm>
          <a:prstGeom prst="rect">
            <a:avLst/>
          </a:prstGeom>
          <a:solidFill>
            <a:srgbClr val="C0392B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56032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TOTAL MENSUAL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56032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$2,201.00/mes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743200"/>
            <a:ext cx="822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7C10"/>
                </a:solidFill>
              </a:rPr>
              <a:t>→
45%
Ahorro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1097280"/>
            <a:ext cx="5212080" cy="5029200"/>
          </a:xfrm>
          <a:prstGeom prst="rect">
            <a:avLst/>
          </a:prstGeom>
          <a:solidFill>
            <a:srgbClr val="E8F5E9"/>
          </a:solidFill>
          <a:ln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1097280"/>
            <a:ext cx="5212080" cy="45720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1143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AWS AWS CODEPIPELINE (Propuesto)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0" y="1691640"/>
            <a:ext cx="5029200" cy="384048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17373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7C10"/>
                </a:solidFill>
              </a:rPr>
              <a:t>AWS CodePipeline (Dev)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173736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07C10"/>
                </a:solidFill>
              </a:rPr>
              <a:t>$27.26/mes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6560" y="2103120"/>
            <a:ext cx="5029200" cy="384048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21488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7C10"/>
                </a:solidFill>
              </a:rPr>
              <a:t>AWS CodePipeline (CentralHub)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214884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07C10"/>
                </a:solidFill>
              </a:rPr>
              <a:t>$1,172.74/mes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0" y="2514600"/>
            <a:ext cx="5029200" cy="384048"/>
          </a:xfrm>
          <a:prstGeom prst="rect">
            <a:avLst/>
          </a:prstGeom>
          <a:solidFill>
            <a:srgbClr val="107C10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256032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TOTAL MENSUAL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256032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$1,200.00/mes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6309360"/>
            <a:ext cx="11430000" cy="365760"/>
          </a:xfrm>
          <a:prstGeom prst="rect">
            <a:avLst/>
          </a:prstGeom>
          <a:solidFill>
            <a:srgbClr val="107C10"/>
          </a:solidFill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💡  Ahorro anual estimado: $12,012  |  Drivers: CodeBuild pay-per-minute, consolidación de pipelines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03  |  CASO DESTACADO: AZURE FRONT DOOR → AMAZON CLOUDFRONT (60% AHORRO)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5303520" cy="5029200"/>
          </a:xfrm>
          <a:prstGeom prst="rect">
            <a:avLst/>
          </a:prstGeom>
          <a:solidFill>
            <a:srgbClr val="FFEBEE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30352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AZURE AZURE FRONT DOOR (Actual)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5120640" cy="384048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3438"/>
                </a:solidFill>
              </a:rPr>
              <a:t>Azure Front Door (CentralHub)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73736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13438"/>
                </a:solidFill>
              </a:rPr>
              <a:t>$478.00/mes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03120"/>
            <a:ext cx="5120640" cy="384048"/>
          </a:xfrm>
          <a:prstGeom prst="rect">
            <a:avLst/>
          </a:prstGeom>
          <a:solidFill>
            <a:srgbClr val="C0392B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488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TOTAL MENSUAL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14884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$478.00/mes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2743200"/>
            <a:ext cx="822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7C10"/>
                </a:solidFill>
              </a:rPr>
              <a:t>→
60%
Ahorro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1097280"/>
            <a:ext cx="5212080" cy="5029200"/>
          </a:xfrm>
          <a:prstGeom prst="rect">
            <a:avLst/>
          </a:prstGeom>
          <a:solidFill>
            <a:srgbClr val="E8F5E9"/>
          </a:solidFill>
          <a:ln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75120" y="1097280"/>
            <a:ext cx="5212080" cy="45720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1143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AWS AMAZON CLOUDFRONT (Propuesto)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1691640"/>
            <a:ext cx="5029200" cy="384048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17373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7C10"/>
                </a:solidFill>
              </a:rPr>
              <a:t>Amazon CloudFront (CentralHub)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173736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07C10"/>
                </a:solidFill>
              </a:rPr>
              <a:t>$190.00/mes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0" y="2103120"/>
            <a:ext cx="5029200" cy="384048"/>
          </a:xfrm>
          <a:prstGeom prst="rect">
            <a:avLst/>
          </a:prstGeom>
          <a:solidFill>
            <a:srgbClr val="107C10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21488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TOTAL MENSUAL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214884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$190.00/mes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6309360"/>
            <a:ext cx="11430000" cy="365760"/>
          </a:xfrm>
          <a:prstGeom prst="rect">
            <a:avLst/>
          </a:prstGeom>
          <a:solidFill>
            <a:srgbClr val="107C10"/>
          </a:solidFill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💡  Ahorro anual estimado: $3,456  |  Drivers: CloudFront pricing por GB transferido, sin cargo fijo mensual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03  |  CASO DESTACADO: VPN GATEWAY → AWS SITE-TO-SITE VPN (43% AHORRO)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5303520" cy="5029200"/>
          </a:xfrm>
          <a:prstGeom prst="rect">
            <a:avLst/>
          </a:prstGeom>
          <a:solidFill>
            <a:srgbClr val="FFEBEE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30352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AZURE VPN GATEWAY (Actual)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5120640" cy="384048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3438"/>
                </a:solidFill>
              </a:rPr>
              <a:t>VPN Gateway (CentralHub)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73736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13438"/>
                </a:solidFill>
              </a:rPr>
              <a:t>$459.00/mes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03120"/>
            <a:ext cx="5120640" cy="384048"/>
          </a:xfrm>
          <a:prstGeom prst="rect">
            <a:avLst/>
          </a:prstGeom>
          <a:solidFill>
            <a:srgbClr val="C0392B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488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TOTAL MENSUAL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14884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$459.00/mes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2743200"/>
            <a:ext cx="822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7C10"/>
                </a:solidFill>
              </a:rPr>
              <a:t>→
43%
Ahorro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1097280"/>
            <a:ext cx="5212080" cy="5029200"/>
          </a:xfrm>
          <a:prstGeom prst="rect">
            <a:avLst/>
          </a:prstGeom>
          <a:solidFill>
            <a:srgbClr val="E8F5E9"/>
          </a:solidFill>
          <a:ln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75120" y="1097280"/>
            <a:ext cx="5212080" cy="45720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1143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AWS AWS SITE-TO-SITE VPN (Propuesto)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1691640"/>
            <a:ext cx="5029200" cy="384048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17373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7C10"/>
                </a:solidFill>
              </a:rPr>
              <a:t>AWS Site-to-Site VPN (CentralHub)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173736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07C10"/>
                </a:solidFill>
              </a:rPr>
              <a:t>$260.00/mes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0" y="2103120"/>
            <a:ext cx="5029200" cy="384048"/>
          </a:xfrm>
          <a:prstGeom prst="rect">
            <a:avLst/>
          </a:prstGeom>
          <a:solidFill>
            <a:srgbClr val="107C10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21488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TOTAL MENSUAL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214884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$260.00/mes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6309360"/>
            <a:ext cx="11430000" cy="365760"/>
          </a:xfrm>
          <a:prstGeom prst="rect">
            <a:avLst/>
          </a:prstGeom>
          <a:solidFill>
            <a:srgbClr val="107C10"/>
          </a:solidFill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💡  Ahorro anual estimado: $2,388  |  Drivers: Transit Gateway consolida conectividad, elimina VPN GW redundantes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03  |  CASO DESTACADO: SENTINEL → AMAZON SECURITY LAKE (55% AHORRO)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5303520" cy="5029200"/>
          </a:xfrm>
          <a:prstGeom prst="rect">
            <a:avLst/>
          </a:prstGeom>
          <a:solidFill>
            <a:srgbClr val="FFEBEE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30352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AZURE SENTINEL (Actual)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5120640" cy="384048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3438"/>
                </a:solidFill>
              </a:rPr>
              <a:t>Sentinel (Prod)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73736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13438"/>
                </a:solidFill>
              </a:rPr>
              <a:t>$121.00/mes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03120"/>
            <a:ext cx="5120640" cy="384048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488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3438"/>
                </a:solidFill>
              </a:rPr>
              <a:t>Sentinel (CentralHub)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14884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13438"/>
                </a:solidFill>
              </a:rPr>
              <a:t>$729.00/mes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514600"/>
            <a:ext cx="5120640" cy="384048"/>
          </a:xfrm>
          <a:prstGeom prst="rect">
            <a:avLst/>
          </a:prstGeom>
          <a:solidFill>
            <a:srgbClr val="C0392B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56032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TOTAL MENSUAL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56032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$850.00/mes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743200"/>
            <a:ext cx="822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7C10"/>
                </a:solidFill>
              </a:rPr>
              <a:t>→
55%
Ahorro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1097280"/>
            <a:ext cx="5212080" cy="5029200"/>
          </a:xfrm>
          <a:prstGeom prst="rect">
            <a:avLst/>
          </a:prstGeom>
          <a:solidFill>
            <a:srgbClr val="E8F5E9"/>
          </a:solidFill>
          <a:ln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1097280"/>
            <a:ext cx="5212080" cy="45720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1143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AWS AMAZON SECURITY LAKE (Propuesto)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0" y="1691640"/>
            <a:ext cx="5029200" cy="384048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17373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7C10"/>
                </a:solidFill>
              </a:rPr>
              <a:t>Amazon Security Lake (Prod)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173736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07C10"/>
                </a:solidFill>
              </a:rPr>
              <a:t>$54.09/mes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6560" y="2103120"/>
            <a:ext cx="5029200" cy="384048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21488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7C10"/>
                </a:solidFill>
              </a:rPr>
              <a:t>Amazon Security Lake (CentralHub)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214884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07C10"/>
                </a:solidFill>
              </a:rPr>
              <a:t>$325.91/mes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0" y="2514600"/>
            <a:ext cx="5029200" cy="384048"/>
          </a:xfrm>
          <a:prstGeom prst="rect">
            <a:avLst/>
          </a:prstGeom>
          <a:solidFill>
            <a:srgbClr val="107C10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256032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TOTAL MENSUAL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256032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$380.00/mes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6309360"/>
            <a:ext cx="11430000" cy="365760"/>
          </a:xfrm>
          <a:prstGeom prst="rect">
            <a:avLst/>
          </a:prstGeom>
          <a:solidFill>
            <a:srgbClr val="107C10"/>
          </a:solidFill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💡  Ahorro anual estimado: $5,640  |  Drivers: Security Lake pay-per-GB, Detective por cuenta analizada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03  |  CASO DESTACADO: CONTAINER INSTANCES (ACI) → AWS FARGATE (59% AHORRO)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5303520" cy="5029200"/>
          </a:xfrm>
          <a:prstGeom prst="rect">
            <a:avLst/>
          </a:prstGeom>
          <a:solidFill>
            <a:srgbClr val="FFEBEE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30352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AZURE CONTAINER INSTANCES (ACI) (Actual)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5120640" cy="384048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3438"/>
                </a:solidFill>
              </a:rPr>
              <a:t>Container Instances (ACI) (Prod)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73736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13438"/>
                </a:solidFill>
              </a:rPr>
              <a:t>$319.00/mes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03120"/>
            <a:ext cx="5120640" cy="384048"/>
          </a:xfrm>
          <a:prstGeom prst="rect">
            <a:avLst/>
          </a:prstGeom>
          <a:solidFill>
            <a:srgbClr val="C0392B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488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TOTAL MENSUAL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14884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$319.00/mes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2743200"/>
            <a:ext cx="822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7C10"/>
                </a:solidFill>
              </a:rPr>
              <a:t>→
59%
Ahorro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1097280"/>
            <a:ext cx="5212080" cy="5029200"/>
          </a:xfrm>
          <a:prstGeom prst="rect">
            <a:avLst/>
          </a:prstGeom>
          <a:solidFill>
            <a:srgbClr val="E8F5E9"/>
          </a:solidFill>
          <a:ln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75120" y="1097280"/>
            <a:ext cx="5212080" cy="45720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1143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AWS AWS FARGATE (Propuesto)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1691640"/>
            <a:ext cx="5029200" cy="384048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17373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7C10"/>
                </a:solidFill>
              </a:rPr>
              <a:t>AWS Fargate (Prod)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173736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07C10"/>
                </a:solidFill>
              </a:rPr>
              <a:t>$130.00/mes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0" y="2103120"/>
            <a:ext cx="5029200" cy="384048"/>
          </a:xfrm>
          <a:prstGeom prst="rect">
            <a:avLst/>
          </a:prstGeom>
          <a:solidFill>
            <a:srgbClr val="107C10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21488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TOTAL MENSUAL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214884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$130.00/mes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6309360"/>
            <a:ext cx="11430000" cy="365760"/>
          </a:xfrm>
          <a:prstGeom prst="rect">
            <a:avLst/>
          </a:prstGeom>
          <a:solidFill>
            <a:srgbClr val="107C10"/>
          </a:solidFill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💡  Ahorro anual estimado: $2,268  |  Drivers: Fargate Spot para workloads tolerantes a interrupción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03  |  CASO DESTACADO: OTROS (SYNAPSE, EVENTHUB, ETC) → AMAZON REDSHIFT (51% AHORRO)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5303520" cy="5029200"/>
          </a:xfrm>
          <a:prstGeom prst="rect">
            <a:avLst/>
          </a:prstGeom>
          <a:solidFill>
            <a:srgbClr val="FFEBEE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30352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AZURE OTROS (SYNAPSE, EVENTHUB, ETC) (Actual)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5120640" cy="384048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3438"/>
                </a:solidFill>
              </a:rPr>
              <a:t>Otros (Synapse, EventHub, etc) (Prod)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73736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13438"/>
                </a:solidFill>
              </a:rPr>
              <a:t>$217.00/mes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03120"/>
            <a:ext cx="5120640" cy="384048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488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3438"/>
                </a:solidFill>
              </a:rPr>
              <a:t>Otros (Synapse, EventHub, etc) (QA)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14884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13438"/>
                </a:solidFill>
              </a:rPr>
              <a:t>$37.00/mes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514600"/>
            <a:ext cx="5120640" cy="384048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56032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3438"/>
                </a:solidFill>
              </a:rPr>
              <a:t>Otros (Synapse, EventHub, etc) (Dev)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56032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13438"/>
                </a:solidFill>
              </a:rPr>
              <a:t>$69.00/mes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926080"/>
            <a:ext cx="5120640" cy="384048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97180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3438"/>
                </a:solidFill>
              </a:rPr>
              <a:t>Otros (Synapse, EventHub, etc) (CentralHub)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97180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13438"/>
                </a:solidFill>
              </a:rPr>
              <a:t>$6.00/mes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337560"/>
            <a:ext cx="5120640" cy="384048"/>
          </a:xfrm>
          <a:prstGeom prst="rect">
            <a:avLst/>
          </a:prstGeom>
          <a:solidFill>
            <a:srgbClr val="C0392B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38328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TOTAL MENSUAL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338328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$329.00/mes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2743200"/>
            <a:ext cx="822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7C10"/>
                </a:solidFill>
              </a:rPr>
              <a:t>→
51%
Ahorro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5120" y="1097280"/>
            <a:ext cx="5212080" cy="5029200"/>
          </a:xfrm>
          <a:prstGeom prst="rect">
            <a:avLst/>
          </a:prstGeom>
          <a:solidFill>
            <a:srgbClr val="E8F5E9"/>
          </a:solidFill>
          <a:ln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75120" y="1097280"/>
            <a:ext cx="5212080" cy="45720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1143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AWS AMAZON REDSHIFT (Propuesto)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0" y="1691640"/>
            <a:ext cx="5029200" cy="384048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17373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7C10"/>
                </a:solidFill>
              </a:rPr>
              <a:t>Amazon Redshift (Prod)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173736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07C10"/>
                </a:solidFill>
              </a:rPr>
              <a:t>$105.53/mes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66560" y="2103120"/>
            <a:ext cx="5029200" cy="384048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0" y="21488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7C10"/>
                </a:solidFill>
              </a:rPr>
              <a:t>Amazon Redshift (QA)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214884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07C10"/>
                </a:solidFill>
              </a:rPr>
              <a:t>$17.99/mes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66560" y="2514600"/>
            <a:ext cx="5029200" cy="384048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256032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7C10"/>
                </a:solidFill>
              </a:rPr>
              <a:t>Amazon Redshift (Dev)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256032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07C10"/>
                </a:solidFill>
              </a:rPr>
              <a:t>$33.56/mes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66560" y="2926080"/>
            <a:ext cx="5029200" cy="384048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0" y="297180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7C10"/>
                </a:solidFill>
              </a:rPr>
              <a:t>Amazon Redshift (CentralHub)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0" y="297180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07C10"/>
                </a:solidFill>
              </a:rPr>
              <a:t>$2.92/mes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66560" y="3337560"/>
            <a:ext cx="5029200" cy="384048"/>
          </a:xfrm>
          <a:prstGeom prst="rect">
            <a:avLst/>
          </a:prstGeom>
          <a:solidFill>
            <a:srgbClr val="107C10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0" y="338328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TOTAL MENSUAL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75520" y="338328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$160.00/mes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6309360"/>
            <a:ext cx="11430000" cy="365760"/>
          </a:xfrm>
          <a:prstGeom prst="rect">
            <a:avLst/>
          </a:prstGeom>
          <a:solidFill>
            <a:srgbClr val="107C10"/>
          </a:solidFill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💡  Ahorro anual estimado: $2,028  |  Drivers: MSK serverless, Redshift RA3 con separación compute/storage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04  |  ATRIBUTOS DE CALIDAD ISO 25010 — EVALUACIÓN COMPARATIVA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11430000" cy="86868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73152" cy="8686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32F3E"/>
                </a:solidFill>
              </a:rPr>
              <a:t>Eficiencia de Desempeño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0" y="1325880"/>
            <a:ext cx="2743200" cy="320040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0" y="1325880"/>
            <a:ext cx="1826971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11430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392B"/>
                </a:solidFill>
              </a:rPr>
              <a:t>Azure: 3.33/5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325880"/>
            <a:ext cx="2743200" cy="320040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35040" y="1325880"/>
            <a:ext cx="2468880" cy="32004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11430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07C10"/>
                </a:solidFill>
              </a:rPr>
              <a:t>AWS: 4.50/5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1280160"/>
            <a:ext cx="731520" cy="4572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12801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7C10"/>
                </a:solidFill>
              </a:rPr>
              <a:t>+1.17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118872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44444"/>
                </a:solidFill>
              </a:rPr>
              <a:t>Karpenter 2x más rápido. API GW &lt;10ms p99. Spot para cargas batch.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103120"/>
            <a:ext cx="11430000" cy="86868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103120"/>
            <a:ext cx="73152" cy="8686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148839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32F3E"/>
                </a:solidFill>
              </a:rPr>
              <a:t>Fiabilidad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08960" y="2331720"/>
            <a:ext cx="2743200" cy="320040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108960" y="2331720"/>
            <a:ext cx="1991563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08960" y="214883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392B"/>
                </a:solidFill>
              </a:rPr>
              <a:t>Azure: 3.63/5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2331720"/>
            <a:ext cx="2743200" cy="320040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35040" y="2331720"/>
            <a:ext cx="2606039" cy="32004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0" y="214883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07C10"/>
                </a:solidFill>
              </a:rPr>
              <a:t>AWS: 4.75/5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61120" y="2286000"/>
            <a:ext cx="731520" cy="4572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0" y="22860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7C10"/>
                </a:solidFill>
              </a:rPr>
              <a:t>+1.12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219456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44444"/>
                </a:solidFill>
              </a:rPr>
              <a:t>Multi-AZ nativo sin costo. Aurora 99.99%. AWS DRS RPO &lt;1s.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108960"/>
            <a:ext cx="11430000" cy="86868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3108960"/>
            <a:ext cx="73152" cy="8686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154679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32F3E"/>
                </a:solidFill>
              </a:rPr>
              <a:t>Seguridad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08960" y="3337560"/>
            <a:ext cx="2743200" cy="320040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108960" y="3337560"/>
            <a:ext cx="219456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08960" y="315467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392B"/>
                </a:solidFill>
              </a:rPr>
              <a:t>Azure: 4.00/5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3337560"/>
            <a:ext cx="2743200" cy="320040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035040" y="3337560"/>
            <a:ext cx="2468880" cy="32004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35040" y="315467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07C10"/>
                </a:solidFill>
              </a:rPr>
              <a:t>AWS: 4.50/5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61120" y="3291840"/>
            <a:ext cx="731520" cy="4572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61120" y="32918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7C10"/>
                </a:solidFill>
              </a:rPr>
              <a:t>+0.50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4080" y="320040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44444"/>
                </a:solidFill>
              </a:rPr>
              <a:t>GuardDuty ML. CloudTrail inmutable. Security Hub 30+ integraciones.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4114800"/>
            <a:ext cx="11430000" cy="86868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74320" y="4114800"/>
            <a:ext cx="73152" cy="8686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416052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32F3E"/>
                </a:solidFill>
              </a:rPr>
              <a:t>Mantenibilidad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08960" y="4343400"/>
            <a:ext cx="2743200" cy="320040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108960" y="4343400"/>
            <a:ext cx="1826971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108960" y="41605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392B"/>
                </a:solidFill>
              </a:rPr>
              <a:t>Azure: 3.33/5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4343400"/>
            <a:ext cx="2743200" cy="320040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035040" y="4343400"/>
            <a:ext cx="2375611" cy="32004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35040" y="41605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07C10"/>
                </a:solidFill>
              </a:rPr>
              <a:t>AWS: 4.33/5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961120" y="4297680"/>
            <a:ext cx="731520" cy="4572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961120" y="42976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7C10"/>
                </a:solidFill>
              </a:rPr>
              <a:t>+1.00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84080" y="420624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44444"/>
                </a:solidFill>
              </a:rPr>
              <a:t>Terraform multi-cloud. Control Tower. CDK en Python/TypeScript.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5120640"/>
            <a:ext cx="11430000" cy="86868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74320" y="5120640"/>
            <a:ext cx="73152" cy="8686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5166359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32F3E"/>
                </a:solidFill>
              </a:rPr>
              <a:t>Portabilidad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08960" y="5349240"/>
            <a:ext cx="2743200" cy="320040"/>
          </a:xfrm>
          <a:prstGeom prst="rect">
            <a:avLst/>
          </a:prstGeom>
          <a:solidFill>
            <a:srgbClr val="FFEBE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108960" y="5349240"/>
            <a:ext cx="178308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108960" y="516635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392B"/>
                </a:solidFill>
              </a:rPr>
              <a:t>Azure: 3.25/5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035040" y="5349240"/>
            <a:ext cx="2743200" cy="320040"/>
          </a:xfrm>
          <a:prstGeom prst="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035040" y="5349240"/>
            <a:ext cx="2331720" cy="32004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035040" y="516635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07C10"/>
                </a:solidFill>
              </a:rPr>
              <a:t>AWS: 4.25/5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961120" y="5303520"/>
            <a:ext cx="731520" cy="4572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961120" y="53035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7C10"/>
                </a:solidFill>
              </a:rPr>
              <a:t>+1.00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84080" y="5212079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44444"/>
                </a:solidFill>
              </a:rPr>
              <a:t>EKS = K8s estándar. S3 API estándar. Terraform portable.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74320" y="6309360"/>
            <a:ext cx="11430000" cy="365760"/>
          </a:xfrm>
          <a:prstGeom prst="rect">
            <a:avLst/>
          </a:prstGeom>
          <a:solidFill>
            <a:srgbClr val="232F3E"/>
          </a:solidFill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Score Promedio Global — Azure: 3.51/5  →  AWS: 4.47/5  |  Mejora: +0.96 puntos en todos los atributos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05  |  ESTRATEGIA DE MIGRACIÓN — 4 FASES (14-18 MESES)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274320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2743200" cy="91440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FASE 1
EVALUAR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91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Meses 1-2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48840"/>
            <a:ext cx="2560320" cy="502920"/>
          </a:xfrm>
          <a:prstGeom prst="rect">
            <a:avLst/>
          </a:prstGeom>
          <a:solidFill>
            <a:srgbClr val="F8F9FA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1945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✓  Control Tower + Landing Zone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43200"/>
            <a:ext cx="2560320" cy="502920"/>
          </a:xfrm>
          <a:prstGeom prst="rect">
            <a:avLst/>
          </a:prstGeom>
          <a:solidFill>
            <a:srgbClr val="F8F9FA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7889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✓  IAM Identity Center ↔ Azure 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37560"/>
            <a:ext cx="2560320" cy="502920"/>
          </a:xfrm>
          <a:prstGeom prst="rect">
            <a:avLst/>
          </a:prstGeom>
          <a:solidFill>
            <a:srgbClr val="F8F9FA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383279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✓  Transit Gateway + VPCs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931920"/>
            <a:ext cx="2560320" cy="502920"/>
          </a:xfrm>
          <a:prstGeom prst="rect">
            <a:avLst/>
          </a:prstGeom>
          <a:solidFill>
            <a:srgbClr val="F8F9FA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977639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✓  POC: EKS Dev + Aurora Dev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1097280"/>
            <a:ext cx="274320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46120" y="1097280"/>
            <a:ext cx="2743200" cy="9144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7560" y="11430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FASE 2
MOVILIZAR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1691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Meses 3-5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37560" y="2148840"/>
            <a:ext cx="2560320" cy="502920"/>
          </a:xfrm>
          <a:prstGeom prst="rect">
            <a:avLst/>
          </a:prstGeom>
          <a:solidFill>
            <a:srgbClr val="F8F9FA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29000" y="21945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✓  DMS: PostgreSQL → Aurora (CDC)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37560" y="2743200"/>
            <a:ext cx="2560320" cy="502920"/>
          </a:xfrm>
          <a:prstGeom prst="rect">
            <a:avLst/>
          </a:prstGeom>
          <a:solidFill>
            <a:srgbClr val="F8F9FA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29000" y="27889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✓  Cosmos DB → DocumentDB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37560" y="3337560"/>
            <a:ext cx="2560320" cy="502920"/>
          </a:xfrm>
          <a:prstGeom prst="rect">
            <a:avLst/>
          </a:prstGeom>
          <a:solidFill>
            <a:srgbClr val="F8F9FA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29000" y="3383279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✓  AKS Dev/QA → EKS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37560" y="3931920"/>
            <a:ext cx="2560320" cy="502920"/>
          </a:xfrm>
          <a:prstGeom prst="rect">
            <a:avLst/>
          </a:prstGeom>
          <a:solidFill>
            <a:srgbClr val="F8F9FA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29000" y="3977639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✓  App Service Dev/QA → Beanstalk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1097280"/>
            <a:ext cx="274320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1097280"/>
            <a:ext cx="2743200" cy="91440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59" y="11430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FASE 3
MIGRAR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59" y="1691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Meses 6-12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59" y="2148840"/>
            <a:ext cx="2560320" cy="502920"/>
          </a:xfrm>
          <a:prstGeom prst="rect">
            <a:avLst/>
          </a:prstGeom>
          <a:solidFill>
            <a:srgbClr val="F8F9FA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21945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✓  AKS Prod → EKS (blue-green)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59" y="2743200"/>
            <a:ext cx="2560320" cy="502920"/>
          </a:xfrm>
          <a:prstGeom prst="rect">
            <a:avLst/>
          </a:prstGeom>
          <a:solidFill>
            <a:srgbClr val="F8F9FA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27889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✓  APIM → API Gateway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59" y="3337560"/>
            <a:ext cx="2560320" cy="502920"/>
          </a:xfrm>
          <a:prstGeom prst="rect">
            <a:avLst/>
          </a:prstGeom>
          <a:solidFill>
            <a:srgbClr val="F8F9FA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3383279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✓  Databricks → AWS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59" y="3931920"/>
            <a:ext cx="2560320" cy="502920"/>
          </a:xfrm>
          <a:prstGeom prst="rect">
            <a:avLst/>
          </a:prstGeom>
          <a:solidFill>
            <a:srgbClr val="F8F9FA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3977639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✓  Data Factory → Glue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89720" y="1097280"/>
            <a:ext cx="274320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189720" y="1097280"/>
            <a:ext cx="2743200" cy="9144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81160" y="11430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FASE 4
MODERNIZAR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81160" y="1691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Meses 13-18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281160" y="2148840"/>
            <a:ext cx="2560320" cy="502920"/>
          </a:xfrm>
          <a:prstGeom prst="rect">
            <a:avLst/>
          </a:prstGeom>
          <a:solidFill>
            <a:srgbClr val="F8F9FA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72600" y="21945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✓  Karpenter + Savings Plans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281160" y="2743200"/>
            <a:ext cx="2560320" cy="502920"/>
          </a:xfrm>
          <a:prstGeom prst="rect">
            <a:avLst/>
          </a:prstGeom>
          <a:solidFill>
            <a:srgbClr val="F8F9FA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72600" y="27889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✓  MSK (Managed Kafka)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281160" y="3337560"/>
            <a:ext cx="2560320" cy="502920"/>
          </a:xfrm>
          <a:prstGeom prst="rect">
            <a:avLst/>
          </a:prstGeom>
          <a:solidFill>
            <a:srgbClr val="F8F9FA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72600" y="3383279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✓  Lake Formation (Governance)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281160" y="3931920"/>
            <a:ext cx="2560320" cy="502920"/>
          </a:xfrm>
          <a:prstGeom prst="rect">
            <a:avLst/>
          </a:prstGeom>
          <a:solidFill>
            <a:srgbClr val="F8F9FA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72600" y="3977639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✓  FinOps Dashboard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6492240"/>
            <a:ext cx="11430000" cy="18288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74320" y="6400800"/>
            <a:ext cx="73152" cy="36576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0" y="67208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32F3E"/>
                </a:solidFill>
              </a:rPr>
              <a:t>Inicio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46120" y="6400800"/>
            <a:ext cx="73152" cy="36576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971800" y="67208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32F3E"/>
                </a:solidFill>
              </a:rPr>
              <a:t>Mes 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17920" y="6400800"/>
            <a:ext cx="73152" cy="36576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943600" y="67208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32F3E"/>
                </a:solidFill>
              </a:rPr>
              <a:t>Mes 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189720" y="6400800"/>
            <a:ext cx="73152" cy="36576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915400" y="67208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32F3E"/>
                </a:solidFill>
              </a:rPr>
              <a:t>Mes 13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1704320" y="6400800"/>
            <a:ext cx="73152" cy="36576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1430000" y="67208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32F3E"/>
                </a:solidFill>
              </a:rPr>
              <a:t>Mes 18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05  |  RIESGOS CRÍTICOS Y PLANES DE MITIGACIÓN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3749039" cy="22860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3749039" cy="457200"/>
          </a:xfrm>
          <a:prstGeom prst="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7043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🔴 CRÍTICO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45919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32F3E"/>
                </a:solidFill>
              </a:rPr>
              <a:t>VPN Gateway Non-AZ
Retiro: Sept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331720"/>
            <a:ext cx="3566160" cy="73152"/>
          </a:xfrm>
          <a:prstGeom prst="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46888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Mitigación:
Priorizar migración en Fase 1.
Deadline: Agosto 2026.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097280"/>
            <a:ext cx="3749039" cy="22860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097280"/>
            <a:ext cx="3749039" cy="4572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79" y="117043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🔴 ALTO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79" y="1645919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32F3E"/>
                </a:solidFill>
              </a:rPr>
              <a:t>Pérdida de datos
en migración BD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79" y="2331720"/>
            <a:ext cx="3566160" cy="7315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79" y="246888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Mitigación:
DMS con CDC + validación checksums.
Rollback plan 30 días.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097280"/>
            <a:ext cx="3749039" cy="22860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097280"/>
            <a:ext cx="3749039" cy="4572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17043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🔴 ALTO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645919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32F3E"/>
                </a:solidFill>
              </a:rPr>
              <a:t>Reescritura políticas
APIM (XML → VTL)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2331720"/>
            <a:ext cx="3566160" cy="7315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246888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Mitigación:
2 devs dedicados 8 semanas.
Inventario completo previo.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566160"/>
            <a:ext cx="3749039" cy="22860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3566160"/>
            <a:ext cx="3749039" cy="457200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63931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🟡 ALTO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11480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32F3E"/>
                </a:solidFill>
              </a:rPr>
              <a:t>Curva aprendizaje
equipo AWS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800600"/>
            <a:ext cx="3566160" cy="73152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93776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Mitigación:
Capacitación 10 personas.
AWS Solutions Architect cert.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3566160"/>
            <a:ext cx="3749039" cy="22860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06240" y="3566160"/>
            <a:ext cx="3749039" cy="457200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7679" y="363931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🟡 MEDIO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411480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32F3E"/>
                </a:solidFill>
              </a:rPr>
              <a:t>Costos ocultos
data transfer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79" y="4800600"/>
            <a:ext cx="3566160" cy="73152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97679" y="493776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Mitigación:
VPC Endpoints + Cost Anomaly
Detection desde Día 1.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38160" y="3566160"/>
            <a:ext cx="3749039" cy="22860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38160" y="3566160"/>
            <a:ext cx="3749039" cy="457200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0" y="363931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🟡 MEDIO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411480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32F3E"/>
                </a:solidFill>
              </a:rPr>
              <a:t>K8s 1.33 sin soporte
en EKS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0" y="4800600"/>
            <a:ext cx="3566160" cy="73152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0" y="493776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Mitigación:
Downgrade a 1.32 antes
de migración.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02  |  UNIT ECONOMICS — COSTO POR INQUILINO Y TRANSACCIÓN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515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32F3E"/>
                </a:solidFill>
              </a:rPr>
              <a:t>Cómo la migración mejora las métricas unitarias del negocio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554480"/>
            <a:ext cx="114300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554480"/>
            <a:ext cx="73152" cy="65836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2926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32F3E"/>
                </a:solidFill>
              </a:rPr>
              <a:t>Costo por Transacción API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645920"/>
            <a:ext cx="1645920" cy="45720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6459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13438"/>
                </a:solidFill>
              </a:rPr>
              <a:t>$0.0023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7373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0" y="1645920"/>
            <a:ext cx="1645920" cy="4572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6459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07C10"/>
                </a:solidFill>
              </a:rPr>
              <a:t>$0.000054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1645920"/>
            <a:ext cx="914400" cy="4572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1645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07C10"/>
                </a:solidFill>
              </a:rPr>
              <a:t>-97.7%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6459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66666"/>
                </a:solidFill>
              </a:rPr>
              <a:t>APIM Premium $11,715/mes ÷ 5M calls vs API GW $535/mes ÷ 10M calls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304288"/>
            <a:ext cx="114300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304288"/>
            <a:ext cx="73152" cy="65836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350008"/>
            <a:ext cx="2926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32F3E"/>
                </a:solidFill>
              </a:rPr>
              <a:t>Costo por Pod/Contenedor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2395728"/>
            <a:ext cx="1645920" cy="45720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0" y="239572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13438"/>
                </a:solidFill>
              </a:rPr>
              <a:t>$657/pod/mes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248716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0" y="2395728"/>
            <a:ext cx="1645920" cy="4572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0" y="239572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07C10"/>
                </a:solidFill>
              </a:rPr>
              <a:t>$498/pod/mes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06640" y="2395728"/>
            <a:ext cx="914400" cy="4572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40" y="239572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07C10"/>
                </a:solidFill>
              </a:rPr>
              <a:t>-24.2%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39572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66666"/>
                </a:solidFill>
              </a:rPr>
              <a:t>AKS $50,694/mes ÷ 77 pods vs EKS SP3 $38,000/mes ÷ 77 pods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054096"/>
            <a:ext cx="114300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3054096"/>
            <a:ext cx="73152" cy="65836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3099815"/>
            <a:ext cx="2926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32F3E"/>
                </a:solidFill>
              </a:rPr>
              <a:t>Costo por GB Almacenado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74720" y="3145536"/>
            <a:ext cx="1645920" cy="45720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0" y="3145536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13438"/>
                </a:solidFill>
              </a:rPr>
              <a:t>$0.031/GB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80" y="323697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0" y="3145536"/>
            <a:ext cx="1645920" cy="4572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0" y="3145536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07C10"/>
                </a:solidFill>
              </a:rPr>
              <a:t>$0.023/GB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06640" y="3145536"/>
            <a:ext cx="914400" cy="4572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06640" y="3145536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07C10"/>
                </a:solidFill>
              </a:rPr>
              <a:t>-25.8%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3145536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66666"/>
                </a:solidFill>
              </a:rPr>
              <a:t>Azure Storage $31,612/mes ÷ 1,015TB vs S3+EBS $22,000/mes ÷ 950TB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3803904"/>
            <a:ext cx="114300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4320" y="3803904"/>
            <a:ext cx="73152" cy="65836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3849624"/>
            <a:ext cx="2926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32F3E"/>
                </a:solidFill>
              </a:rPr>
              <a:t>Costo por DBU Databricks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474720" y="3895344"/>
            <a:ext cx="1645920" cy="45720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74720" y="389534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13438"/>
                </a:solidFill>
              </a:rPr>
              <a:t>$0.243/DBU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12080" y="398678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80" y="3895344"/>
            <a:ext cx="1645920" cy="4572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69280" y="389534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07C10"/>
                </a:solidFill>
              </a:rPr>
              <a:t>$0.157/DBU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06640" y="3895344"/>
            <a:ext cx="914400" cy="4572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06640" y="3895344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07C10"/>
                </a:solidFill>
              </a:rPr>
              <a:t>-35.4%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0" y="3895344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66666"/>
                </a:solidFill>
              </a:rPr>
              <a:t>Azure infra $2,400/mes + $1,820 DBU vs AWS infra $1,149 + $1,820 DBU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4553712"/>
            <a:ext cx="114300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74320" y="4553712"/>
            <a:ext cx="73152" cy="65836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4599432"/>
            <a:ext cx="2926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32F3E"/>
                </a:solidFill>
              </a:rPr>
              <a:t>Costo por Ambiente (QA)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474720" y="4645152"/>
            <a:ext cx="1645920" cy="45720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474720" y="464515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13438"/>
                </a:solidFill>
              </a:rPr>
              <a:t>$19,314/mes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12080" y="473659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669280" y="4645152"/>
            <a:ext cx="1645920" cy="4572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669280" y="464515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07C10"/>
                </a:solidFill>
              </a:rPr>
              <a:t>$11,000/mes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406640" y="4645152"/>
            <a:ext cx="914400" cy="4572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6640" y="464515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07C10"/>
                </a:solidFill>
              </a:rPr>
              <a:t>-43.0%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12480" y="464515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66666"/>
                </a:solidFill>
              </a:rPr>
              <a:t>QA Azure $19,314 vs QA AWS SP3 estimado $11,000 (Spot + rightsizing)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5303520"/>
            <a:ext cx="114300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74320" y="5303520"/>
            <a:ext cx="73152" cy="65836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5349240"/>
            <a:ext cx="2926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32F3E"/>
                </a:solidFill>
              </a:rPr>
              <a:t>Costo por Cluster K8s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474720" y="5394960"/>
            <a:ext cx="1645920" cy="45720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474720" y="5394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13438"/>
                </a:solidFill>
              </a:rPr>
              <a:t>$7,242/cluster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12080" y="54864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669280" y="5394960"/>
            <a:ext cx="1645920" cy="4572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669280" y="5394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07C10"/>
                </a:solidFill>
              </a:rPr>
              <a:t>$5,069/cluster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406640" y="5394960"/>
            <a:ext cx="914400" cy="4572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406640" y="53949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07C10"/>
                </a:solidFill>
              </a:rPr>
              <a:t>-30.0%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412480" y="53949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66666"/>
                </a:solidFill>
              </a:rPr>
              <a:t>AKS 7 clusters $50,694 vs EKS 7 clusters SP3 $35,483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06  |  MATRIZ DE DECISIÓN ESTRATÉGICA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3200400" cy="36576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1430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Criterio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0" y="1097280"/>
            <a:ext cx="914400" cy="36576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20439" y="11430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Peso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097280"/>
            <a:ext cx="1371600" cy="36576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1430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Score Azure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1097280"/>
            <a:ext cx="1645920" cy="36576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06440" y="11430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Ponderado Azure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1097280"/>
            <a:ext cx="1371600" cy="36576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60" y="11430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Score AWS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78240" y="1097280"/>
            <a:ext cx="1645920" cy="36576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23960" y="11430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Ponderado AWS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463040"/>
            <a:ext cx="3200400" cy="347472"/>
          </a:xfrm>
          <a:prstGeom prst="rect">
            <a:avLst/>
          </a:prstGeom>
          <a:solidFill>
            <a:srgbClr val="FFF8E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150876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Time-to-Value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0" y="1463040"/>
            <a:ext cx="914400" cy="347472"/>
          </a:xfrm>
          <a:prstGeom prst="rect">
            <a:avLst/>
          </a:prstGeom>
          <a:solidFill>
            <a:srgbClr val="FFF8E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39" y="150876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</a:rPr>
              <a:t>15%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1463040"/>
            <a:ext cx="1371600" cy="347472"/>
          </a:xfrm>
          <a:prstGeom prst="rect">
            <a:avLst/>
          </a:prstGeom>
          <a:solidFill>
            <a:srgbClr val="FFF8E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15087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13438"/>
                </a:solidFill>
              </a:rPr>
              <a:t>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60720" y="1463040"/>
            <a:ext cx="1645920" cy="347472"/>
          </a:xfrm>
          <a:prstGeom prst="rect">
            <a:avLst/>
          </a:prstGeom>
          <a:solidFill>
            <a:srgbClr val="FFF8E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06440" y="150876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</a:rPr>
              <a:t>0.75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06640" y="1463040"/>
            <a:ext cx="1371600" cy="347472"/>
          </a:xfrm>
          <a:prstGeom prst="rect">
            <a:avLst/>
          </a:prstGeom>
          <a:solidFill>
            <a:srgbClr val="FFF8E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52360" y="15087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</a:rPr>
              <a:t>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78240" y="1463040"/>
            <a:ext cx="1645920" cy="347472"/>
          </a:xfrm>
          <a:prstGeom prst="rect">
            <a:avLst/>
          </a:prstGeom>
          <a:solidFill>
            <a:srgbClr val="FFF8E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23960" y="150876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</a:rPr>
              <a:t>0.45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1810512"/>
            <a:ext cx="32004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1856231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Riesgo Operativo Inmediato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74720" y="1810512"/>
            <a:ext cx="9144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20439" y="1856231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</a:rPr>
              <a:t>15%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0" y="1810512"/>
            <a:ext cx="13716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34840" y="1856231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13438"/>
                </a:solidFill>
              </a:rPr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60720" y="1810512"/>
            <a:ext cx="1645920" cy="3474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06440" y="1856231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</a:rPr>
              <a:t>0.75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06640" y="1810512"/>
            <a:ext cx="13716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52360" y="1856231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</a:rPr>
              <a:t>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78240" y="1810512"/>
            <a:ext cx="1645920" cy="3474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23960" y="1856231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</a:rPr>
              <a:t>0.45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2157984"/>
            <a:ext cx="3200400" cy="347472"/>
          </a:xfrm>
          <a:prstGeom prst="rect">
            <a:avLst/>
          </a:prstGeom>
          <a:solidFill>
            <a:srgbClr val="FFF8E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" y="2203703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Inversión Inicial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74720" y="2157984"/>
            <a:ext cx="914400" cy="347472"/>
          </a:xfrm>
          <a:prstGeom prst="rect">
            <a:avLst/>
          </a:prstGeom>
          <a:solidFill>
            <a:srgbClr val="FFF8E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20439" y="2203703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</a:rPr>
              <a:t>10%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89120" y="2157984"/>
            <a:ext cx="1371600" cy="347472"/>
          </a:xfrm>
          <a:prstGeom prst="rect">
            <a:avLst/>
          </a:prstGeom>
          <a:solidFill>
            <a:srgbClr val="FFF8E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34840" y="2203703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13438"/>
                </a:solidFill>
              </a:rPr>
              <a:t>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760720" y="2157984"/>
            <a:ext cx="1645920" cy="347472"/>
          </a:xfrm>
          <a:prstGeom prst="rect">
            <a:avLst/>
          </a:prstGeom>
          <a:solidFill>
            <a:srgbClr val="FFF8E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806440" y="2203703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</a:rPr>
              <a:t>0.40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06640" y="2157984"/>
            <a:ext cx="1371600" cy="347472"/>
          </a:xfrm>
          <a:prstGeom prst="rect">
            <a:avLst/>
          </a:prstGeom>
          <a:solidFill>
            <a:srgbClr val="FFF8E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52360" y="2203703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</a:rPr>
              <a:t>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778240" y="2157984"/>
            <a:ext cx="1645920" cy="347472"/>
          </a:xfrm>
          <a:prstGeom prst="rect">
            <a:avLst/>
          </a:prstGeom>
          <a:solidFill>
            <a:srgbClr val="FFF8E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823960" y="2203703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</a:rPr>
              <a:t>0.30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2505456"/>
            <a:ext cx="32004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20040" y="2551175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Gobierno y Escalabilidad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474720" y="2505456"/>
            <a:ext cx="9144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520439" y="2551175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</a:rPr>
              <a:t>15%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389120" y="2505456"/>
            <a:ext cx="13716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434840" y="2551175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</a:rPr>
              <a:t>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760720" y="2505456"/>
            <a:ext cx="1645920" cy="3474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806440" y="2551175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</a:rPr>
              <a:t>0.45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406640" y="2505456"/>
            <a:ext cx="13716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452360" y="2551175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7C10"/>
                </a:solidFill>
              </a:rPr>
              <a:t>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778240" y="2505456"/>
            <a:ext cx="1645920" cy="3474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823960" y="2551175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</a:rPr>
              <a:t>0.75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74320" y="2852927"/>
            <a:ext cx="3200400" cy="347472"/>
          </a:xfrm>
          <a:prstGeom prst="rect">
            <a:avLst/>
          </a:prstGeom>
          <a:solidFill>
            <a:srgbClr val="FFF8E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20040" y="2898647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Seguridad y Cumplimiento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474720" y="2852927"/>
            <a:ext cx="914400" cy="347472"/>
          </a:xfrm>
          <a:prstGeom prst="rect">
            <a:avLst/>
          </a:prstGeom>
          <a:solidFill>
            <a:srgbClr val="FFF8E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520439" y="2898647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</a:rPr>
              <a:t>10%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389120" y="2852927"/>
            <a:ext cx="1371600" cy="347472"/>
          </a:xfrm>
          <a:prstGeom prst="rect">
            <a:avLst/>
          </a:prstGeom>
          <a:solidFill>
            <a:srgbClr val="FFF8E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434840" y="2898647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</a:rPr>
              <a:t>4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760720" y="2852927"/>
            <a:ext cx="1645920" cy="347472"/>
          </a:xfrm>
          <a:prstGeom prst="rect">
            <a:avLst/>
          </a:prstGeom>
          <a:solidFill>
            <a:srgbClr val="FFF8E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806440" y="2898647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</a:rPr>
              <a:t>0.40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406640" y="2852927"/>
            <a:ext cx="1371600" cy="347472"/>
          </a:xfrm>
          <a:prstGeom prst="rect">
            <a:avLst/>
          </a:prstGeom>
          <a:solidFill>
            <a:srgbClr val="FFF8E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452360" y="2898647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</a:rPr>
              <a:t>4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778240" y="2852927"/>
            <a:ext cx="1645920" cy="347472"/>
          </a:xfrm>
          <a:prstGeom prst="rect">
            <a:avLst/>
          </a:prstGeom>
          <a:solidFill>
            <a:srgbClr val="FFF8E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823960" y="2898647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</a:rPr>
              <a:t>0.40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74320" y="3200399"/>
            <a:ext cx="32004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20040" y="3246119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Optimización de Costos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474720" y="3200399"/>
            <a:ext cx="9144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520439" y="3246119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</a:rPr>
              <a:t>10%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389120" y="3200399"/>
            <a:ext cx="13716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434840" y="3246119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</a:rPr>
              <a:t>3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760720" y="3200399"/>
            <a:ext cx="1645920" cy="3474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806440" y="3246119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</a:rPr>
              <a:t>0.30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406640" y="3200399"/>
            <a:ext cx="13716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452360" y="3246119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7C10"/>
                </a:solidFill>
              </a:rPr>
              <a:t>5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778240" y="3200399"/>
            <a:ext cx="1645920" cy="3474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823960" y="3246119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</a:rPr>
              <a:t>0.50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74320" y="3547871"/>
            <a:ext cx="3200400" cy="347472"/>
          </a:xfrm>
          <a:prstGeom prst="rect">
            <a:avLst/>
          </a:prstGeom>
          <a:solidFill>
            <a:srgbClr val="FFF8E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20040" y="3593591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Modernización Arquitectónica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474720" y="3547871"/>
            <a:ext cx="914400" cy="347472"/>
          </a:xfrm>
          <a:prstGeom prst="rect">
            <a:avLst/>
          </a:prstGeom>
          <a:solidFill>
            <a:srgbClr val="FFF8E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520439" y="3593591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</a:rPr>
              <a:t>10%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389120" y="3547871"/>
            <a:ext cx="1371600" cy="347472"/>
          </a:xfrm>
          <a:prstGeom prst="rect">
            <a:avLst/>
          </a:prstGeom>
          <a:solidFill>
            <a:srgbClr val="FFF8E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434840" y="3593591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</a:rPr>
              <a:t>3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760720" y="3547871"/>
            <a:ext cx="1645920" cy="347472"/>
          </a:xfrm>
          <a:prstGeom prst="rect">
            <a:avLst/>
          </a:prstGeom>
          <a:solidFill>
            <a:srgbClr val="FFF8E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806440" y="3593591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</a:rPr>
              <a:t>0.30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406640" y="3547871"/>
            <a:ext cx="1371600" cy="347472"/>
          </a:xfrm>
          <a:prstGeom prst="rect">
            <a:avLst/>
          </a:prstGeom>
          <a:solidFill>
            <a:srgbClr val="FFF8E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452360" y="3593591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7C10"/>
                </a:solidFill>
              </a:rPr>
              <a:t>5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778240" y="3547871"/>
            <a:ext cx="1645920" cy="347472"/>
          </a:xfrm>
          <a:prstGeom prst="rect">
            <a:avLst/>
          </a:prstGeom>
          <a:solidFill>
            <a:srgbClr val="FFF8E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823960" y="3593591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</a:rPr>
              <a:t>0.50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74320" y="3895344"/>
            <a:ext cx="32004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20040" y="3941063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Modelo Operativo &amp; Cultura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474720" y="3895344"/>
            <a:ext cx="9144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520439" y="3941063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</a:rPr>
              <a:t>10%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389120" y="3895344"/>
            <a:ext cx="13716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434840" y="3941063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</a:rPr>
              <a:t>3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760720" y="3895344"/>
            <a:ext cx="1645920" cy="3474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806440" y="3941063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</a:rPr>
              <a:t>0.30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406640" y="3895344"/>
            <a:ext cx="13716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452360" y="3941063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7C10"/>
                </a:solidFill>
              </a:rPr>
              <a:t>5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778240" y="3895344"/>
            <a:ext cx="1645920" cy="3474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823960" y="3941063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</a:rPr>
              <a:t>0.50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274320" y="4242816"/>
            <a:ext cx="3200400" cy="4114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320040" y="4288536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TOTAL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474720" y="4242816"/>
            <a:ext cx="914400" cy="4114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520439" y="4288536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4389120" y="4242816"/>
            <a:ext cx="1371600" cy="4114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4434840" y="4288536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5760720" y="4242816"/>
            <a:ext cx="1645920" cy="411480"/>
          </a:xfrm>
          <a:prstGeom prst="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5806440" y="428853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3.65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7406640" y="4242816"/>
            <a:ext cx="1371600" cy="4114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7452360" y="4288536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778240" y="4242816"/>
            <a:ext cx="1645920" cy="41148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823960" y="428853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3.85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74320" y="6263640"/>
            <a:ext cx="11430000" cy="457200"/>
          </a:xfrm>
          <a:prstGeom prst="rect">
            <a:avLst/>
          </a:prstGeom>
          <a:solidFill>
            <a:srgbClr val="232F3E"/>
          </a:solidFill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Conclusión: AWS lidera en Gobierno, FinOps y Modernización (3.85 vs 3.65). Azure gana en velocidad inmediata. Recomendación: Migrar a AWS para potenciar el futuro de la compañía.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06  |  PRÓXIMOS PASOS INMEDIATOS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274320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2743200" cy="54864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Semana 1-2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28800"/>
            <a:ext cx="2560320" cy="1280160"/>
          </a:xfrm>
          <a:prstGeom prst="rect">
            <a:avLst/>
          </a:prstGeom>
          <a:solidFill>
            <a:srgbClr val="F8F9FA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828800"/>
            <a:ext cx="54864" cy="128016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Presentar este caso de negocio a CTO, CFO y Director de Infraestructura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246120"/>
            <a:ext cx="2560320" cy="1280160"/>
          </a:xfrm>
          <a:prstGeom prst="rect">
            <a:avLst/>
          </a:prstGeom>
          <a:solidFill>
            <a:srgbClr val="F8F9FA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3246120"/>
            <a:ext cx="54864" cy="128016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33756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Obtener aprobación de presupuesto ($189,750 inversión total)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663440"/>
            <a:ext cx="2560320" cy="1280160"/>
          </a:xfrm>
          <a:prstGeom prst="rect">
            <a:avLst/>
          </a:prstGeom>
          <a:solidFill>
            <a:srgbClr val="F8F9FA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4663440"/>
            <a:ext cx="54864" cy="128016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754879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Asignar Sponsor Ejecutivo del proyecto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1097280"/>
            <a:ext cx="274320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46120" y="1097280"/>
            <a:ext cx="2743200" cy="5486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7560" y="1188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Semana 3-4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37560" y="1828800"/>
            <a:ext cx="2560320" cy="1280160"/>
          </a:xfrm>
          <a:prstGeom prst="rect">
            <a:avLst/>
          </a:prstGeom>
          <a:solidFill>
            <a:srgbClr val="F8F9FA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37560" y="1828800"/>
            <a:ext cx="54864" cy="128016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0" y="192024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Contratar AWS Partner Network (APN) para arquitectura y migración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37560" y="3246120"/>
            <a:ext cx="2560320" cy="1280160"/>
          </a:xfrm>
          <a:prstGeom prst="rect">
            <a:avLst/>
          </a:prstGeom>
          <a:solidFill>
            <a:srgbClr val="F8F9FA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37560" y="3246120"/>
            <a:ext cx="54864" cy="128016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0" y="333756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Iniciar capacitación AWS Solutions Architect (10 personas)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37560" y="4663440"/>
            <a:ext cx="2560320" cy="1280160"/>
          </a:xfrm>
          <a:prstGeom prst="rect">
            <a:avLst/>
          </a:prstGeom>
          <a:solidFill>
            <a:srgbClr val="F8F9FA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37560" y="4663440"/>
            <a:ext cx="54864" cy="128016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0" y="4754879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Crear cuentas AWS (Control Tower + Landing Zone)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1097280"/>
            <a:ext cx="274320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1097280"/>
            <a:ext cx="2743200" cy="54864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59" y="1188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Mes 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59" y="1828800"/>
            <a:ext cx="2560320" cy="1280160"/>
          </a:xfrm>
          <a:prstGeom prst="rect">
            <a:avLst/>
          </a:prstGeom>
          <a:solidFill>
            <a:srgbClr val="F8F9FA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59" y="1828800"/>
            <a:ext cx="54864" cy="128016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192024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Configurar VPCs, Transit Gateway y VPN Site-to-Site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59" y="3246120"/>
            <a:ext cx="2560320" cy="1280160"/>
          </a:xfrm>
          <a:prstGeom prst="rect">
            <a:avLst/>
          </a:prstGeom>
          <a:solidFill>
            <a:srgbClr val="F8F9FA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09359" y="3246120"/>
            <a:ext cx="54864" cy="128016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333756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Ejecutar POC: Migrar cluster EKS Dev + Aurora PostgreSQL Dev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59" y="4663440"/>
            <a:ext cx="2560320" cy="1280160"/>
          </a:xfrm>
          <a:prstGeom prst="rect">
            <a:avLst/>
          </a:prstGeom>
          <a:solidFill>
            <a:srgbClr val="F8F9FA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09359" y="4663440"/>
            <a:ext cx="54864" cy="128016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4754879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Validar costos reales vs estimados del POC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89720" y="1097280"/>
            <a:ext cx="274320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189720" y="1097280"/>
            <a:ext cx="2743200" cy="5486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81160" y="1188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Mes 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281160" y="1828800"/>
            <a:ext cx="2560320" cy="1280160"/>
          </a:xfrm>
          <a:prstGeom prst="rect">
            <a:avLst/>
          </a:prstGeom>
          <a:solidFill>
            <a:srgbClr val="F8F9FA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281160" y="1828800"/>
            <a:ext cx="54864" cy="128016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18320" y="192024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Revisar resultados del POC y ajustar plan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281160" y="3246120"/>
            <a:ext cx="2560320" cy="1280160"/>
          </a:xfrm>
          <a:prstGeom prst="rect">
            <a:avLst/>
          </a:prstGeom>
          <a:solidFill>
            <a:srgbClr val="F8F9FA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281160" y="3246120"/>
            <a:ext cx="54864" cy="128016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18320" y="333756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Iniciar migración Ola 1: Bases de datos (DMS con CDC)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281160" y="4663440"/>
            <a:ext cx="2560320" cy="1280160"/>
          </a:xfrm>
          <a:prstGeom prst="rect">
            <a:avLst/>
          </a:prstGeom>
          <a:solidFill>
            <a:srgbClr val="F8F9FA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281160" y="4663440"/>
            <a:ext cx="54864" cy="128016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418320" y="4754879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Activar AWS Cost Explorer + Anomaly Detection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4320" y="6309360"/>
            <a:ext cx="11430000" cy="365760"/>
          </a:xfrm>
          <a:prstGeom prst="rect">
            <a:avLst/>
          </a:prstGeom>
          <a:solidFill>
            <a:srgbClr val="D13438"/>
          </a:solidFill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🎯  Decisión requerida: Aprobación de presupuesto y asignación de equipo — Semana 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9900"/>
                </a:solidFill>
              </a:rPr>
              <a:t>RECOMENDACIÓN EJECUTIVA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Proceder con la Migración
Azure → AWS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291840"/>
            <a:ext cx="2377440" cy="164592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3291840"/>
            <a:ext cx="2377440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4290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9900"/>
                </a:solidFill>
              </a:rPr>
              <a:t>$65,164/mes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605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Ahorro mensual
estimado (SP 3yr)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40" y="3291840"/>
            <a:ext cx="2377440" cy="164592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0440" y="3291840"/>
            <a:ext cx="2377440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34290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9900"/>
                </a:solidFill>
              </a:rPr>
              <a:t>$2.8M+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41605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Ahorro acumulado
a 3 años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3291840"/>
            <a:ext cx="2377440" cy="164592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3291840"/>
            <a:ext cx="2377440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34290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9900"/>
                </a:solidFill>
              </a:rPr>
              <a:t>&lt;12 meses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1605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Payback de la
inversión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32520" y="3291840"/>
            <a:ext cx="2377440" cy="164592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32520" y="3291840"/>
            <a:ext cx="2377440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23960" y="34290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9900"/>
                </a:solidFill>
              </a:rPr>
              <a:t>+0.96 pts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41605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Mejora ISO 25010
(calidad arquitectura)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120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D0D0D0"/>
                </a:solidFill>
              </a:rPr>
              <a:t>La migración no es solo tecnológica — es una evolución organizacional hacia un modelo cloud industrializado,
seguro y optimizado que posiciona a OnNet para escalar con eficiencia en los próximos 5 años.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</a:rPr>
              <a:t>Equipo de Arquitectura Cloud  |  OnNet  |  Abril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